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60" r:id="rId9"/>
    <p:sldId id="279" r:id="rId10"/>
    <p:sldId id="261" r:id="rId11"/>
    <p:sldId id="262" r:id="rId12"/>
    <p:sldId id="263" r:id="rId13"/>
    <p:sldId id="268" r:id="rId14"/>
    <p:sldId id="278" r:id="rId15"/>
    <p:sldId id="269" r:id="rId16"/>
    <p:sldId id="271" r:id="rId17"/>
    <p:sldId id="270" r:id="rId18"/>
    <p:sldId id="274" r:id="rId19"/>
    <p:sldId id="277" r:id="rId20"/>
    <p:sldId id="276" r:id="rId21"/>
    <p:sldId id="272" r:id="rId22"/>
    <p:sldId id="273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85CEECB-F160-4BA0-AF45-42DDF754CBCC}">
          <p14:sldIdLst>
            <p14:sldId id="256"/>
          </p14:sldIdLst>
        </p14:section>
        <p14:section name="入口頁" id="{FF2C72E5-590A-44E1-996A-880556BF3ECE}">
          <p14:sldIdLst>
            <p14:sldId id="257"/>
            <p14:sldId id="258"/>
          </p14:sldIdLst>
        </p14:section>
        <p14:section name="帳號與儲值" id="{3DB7212A-4265-412A-BBFB-64EA5E32962E}">
          <p14:sldIdLst>
            <p14:sldId id="265"/>
            <p14:sldId id="266"/>
            <p14:sldId id="267"/>
          </p14:sldIdLst>
        </p14:section>
        <p14:section name="1 上傳論文" id="{F93474A4-9699-42EE-B6FA-2F61201BE855}">
          <p14:sldIdLst>
            <p14:sldId id="259"/>
            <p14:sldId id="260"/>
            <p14:sldId id="279"/>
          </p14:sldIdLst>
        </p14:section>
        <p14:section name="2 設定條件" id="{284707B4-7FBE-4396-A64F-8217107E1A08}">
          <p14:sldIdLst>
            <p14:sldId id="261"/>
            <p14:sldId id="262"/>
            <p14:sldId id="263"/>
          </p14:sldIdLst>
        </p14:section>
        <p14:section name="3 生成中" id="{6E880CB4-5637-4935-93A7-28D0ECA6A137}">
          <p14:sldIdLst>
            <p14:sldId id="268"/>
            <p14:sldId id="278"/>
          </p14:sldIdLst>
        </p14:section>
        <p14:section name="4 研究提案" id="{E20C72AB-CC23-4912-BFB3-D912FBB7D015}">
          <p14:sldIdLst>
            <p14:sldId id="269"/>
            <p14:sldId id="271"/>
          </p14:sldIdLst>
        </p14:section>
        <p14:section name="歷史紀錄" id="{10500DD8-D343-4C25-A5BC-CD6E50523167}">
          <p14:sldIdLst>
            <p14:sldId id="270"/>
            <p14:sldId id="274"/>
          </p14:sldIdLst>
        </p14:section>
        <p14:section name="彈出訊息" id="{D654E046-000C-4EF6-9BC3-7C0B42CF3D09}">
          <p14:sldIdLst>
            <p14:sldId id="277"/>
            <p14:sldId id="276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C"/>
    <a:srgbClr val="FCFCFC"/>
    <a:srgbClr val="4C7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2670" autoAdjust="0"/>
  </p:normalViewPr>
  <p:slideViewPr>
    <p:cSldViewPr snapToGrid="0">
      <p:cViewPr varScale="1">
        <p:scale>
          <a:sx n="112" d="100"/>
          <a:sy n="112" d="100"/>
        </p:scale>
        <p:origin x="7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7D46B-8D8C-465A-B408-15F9CF501AD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55BC6-CD0A-4FEC-B2C2-0064ACBBB1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56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55BC6-CD0A-4FEC-B2C2-0064ACBBB1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99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4340-478B-F1CA-2B64-8B5A54C5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3798F9-8D38-0AD2-078F-02CAA13A6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45D9252-F083-7C2D-A501-2DF7F621B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287B2-9096-0ED4-3071-BCE2CFCD2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55BC6-CD0A-4FEC-B2C2-0064ACBBB1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73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26A77-14D4-3ED9-20A5-17A703BAE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CEBD83-3819-8A86-4C20-38893ACFD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7CDA82-7ACB-F56B-21B9-8E6DB8A3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A8F93F-3152-A56C-72DC-E635A7E03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D50B2D-7870-A129-684F-60A228AB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60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186F63-3B2D-C3E9-F2D4-933F4192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D36FEA-4F6C-C9AE-884C-9FC74ACC7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B7316C-40E8-7CF8-B4A1-308D906A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EF963A-CEC4-0A8A-3543-58FEFB19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1E5A95-8922-66D1-F99E-578806B2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5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5B5E01-29D7-D581-ED5D-12708BDC9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F3B915-7F10-9CF9-5C11-58A53B989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94750A-E543-7B46-C38A-168AFF81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7469F7-CA7E-30D0-DF49-0024A769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028B1F-F1F2-FF4F-F960-92DABACA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467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6C5F54-25AD-DD1A-F457-06018C5B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97A1E2-C0E5-ED70-2780-BAC655312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1D9302-49F5-0C8F-C588-ABCCE9023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2371F2-E4DD-F854-9075-63C98221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3B83779-4976-DB7F-CB84-A9B46803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E61ECF-9FFE-9097-01C9-575414EE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50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DCA01-B1A6-4824-5090-854FB823A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7E5AB6-1BC9-EA9B-1E79-97202F1E0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86570B4-B263-E0AE-E876-B63FB12DC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219182-03C0-531E-71A0-E0F69CF4E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D3F011B-0836-FEA7-CE04-9E24D4A0E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A41A11-1CE9-F631-DDA0-727A02A0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C4DCA94-C68C-4FB9-BE61-24D79BC0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712302-C5ED-BC6D-AD11-61130F7E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41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1C3B3-8490-38D3-DBB9-81B6A15C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64DDE07-AB7C-DCD1-E334-6A47A616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88FA2C1-F3C4-321D-E954-F604168F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B6CAAC-365A-EBB9-7CEA-22DC7364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3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10AC95D-5658-854E-526B-69E2BE8B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8268DFE-83F8-7F22-A29F-10098EB0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31E06C-9F92-0ED4-DD2D-8716C4EF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63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6A9C5-89B5-8147-0C64-19C4591F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688021-4C06-0A56-59ED-B3234FF50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6B344C-53D5-1207-F9CC-7DBC4EBBE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41F57C-1E39-CFB5-78F1-B2E8D9D1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5AC56D-138A-1705-EA6A-FD3EE29A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3B78AB-FC90-03F6-3549-2EFBB1E6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87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9842FA-2F70-A42D-8D0B-3E04215C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78EDC4A-EF4C-41E3-4314-3A711B3F6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418CE1-E19F-E8AC-2B3A-8ADF329F1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FDF593-D3F2-0EEF-CB37-A0733E95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88BB56-DBCC-9033-26B5-C146F54E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A96B5-2737-E3EA-7B3F-56625BF7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26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BBC862-7389-6C55-AF5A-9146B421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5859C1-FD22-32D2-BBA3-BC2677E7A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BD7A73-0AAA-D9E7-BE61-037B9A06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CEF6E4-6E06-90B2-4334-FF535510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3676C8-C5B7-5529-8693-8484E0C1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134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7F849F0-CC5C-E397-9051-5655D974A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9C650A-37B0-4D22-7FBF-112713511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310DB6-1123-8126-25E4-A488DD01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FEFAF-6BB1-6E22-2A5B-E51AEE4B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97E76-95A9-1FF8-8601-A4B4C181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60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C71E676-9B92-52BD-E50A-477D741A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2056A1-116A-F9EB-832C-14CC7320B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8D4CD3-8CED-B82F-9CA8-A81E255AB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0A4F4-029D-4EB7-A005-18EED6877D82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465E42-95F9-83B4-25FD-8080C3442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3B7888-00D1-D4BE-C317-F2B94DD0A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D1FAF-5DDD-4732-8782-C312FCF591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27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oanne6277.github.io/scholar-coa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C5591-F392-0CF5-1AD5-D174DC1F2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8102"/>
            <a:ext cx="9144000" cy="2387600"/>
          </a:xfrm>
        </p:spPr>
        <p:txBody>
          <a:bodyPr/>
          <a:lstStyle/>
          <a:p>
            <a:r>
              <a:rPr lang="en-US" altLang="zh-TW" dirty="0"/>
              <a:t>Scholar coach</a:t>
            </a:r>
            <a:br>
              <a:rPr lang="en-US" altLang="zh-TW" dirty="0"/>
            </a:br>
            <a:r>
              <a:rPr lang="zh-TW" altLang="en-US" dirty="0"/>
              <a:t>功能說明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82A615-F583-BD45-DA51-0DF3F542F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5702"/>
            <a:ext cx="9144000" cy="432559"/>
          </a:xfrm>
        </p:spPr>
        <p:txBody>
          <a:bodyPr/>
          <a:lstStyle/>
          <a:p>
            <a:r>
              <a:rPr lang="en-US" altLang="zh-TW" dirty="0"/>
              <a:t>2026/7/8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41DF5A-8429-5C0B-C5DE-4C261BEEEBF0}"/>
              </a:ext>
            </a:extLst>
          </p:cNvPr>
          <p:cNvSpPr txBox="1"/>
          <p:nvPr/>
        </p:nvSpPr>
        <p:spPr>
          <a:xfrm>
            <a:off x="6950765" y="60272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Demo</a:t>
            </a:r>
            <a:r>
              <a:rPr lang="zh-TW" altLang="en-US" dirty="0"/>
              <a:t>畫面網址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https://joanne6277.github.io/scholar-coach/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71422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C04FA-5C2A-2809-C280-A1225BA2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入口頁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DDDC6E-F59D-A719-8B37-96A0531D3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75" y="4570882"/>
            <a:ext cx="10965180" cy="13255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/>
              <a:t>上方：圖片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[</a:t>
            </a:r>
            <a:r>
              <a:rPr lang="zh-TW" altLang="en-US" sz="2000" dirty="0"/>
              <a:t>開始使用</a:t>
            </a:r>
            <a:r>
              <a:rPr lang="en-US" altLang="zh-TW" sz="2000" dirty="0"/>
              <a:t>]+</a:t>
            </a:r>
            <a:r>
              <a:rPr lang="zh-TW" altLang="en-US" sz="2000" dirty="0"/>
              <a:t>首次使用免費</a:t>
            </a:r>
            <a:r>
              <a:rPr lang="en-US" altLang="zh-TW" sz="2000" dirty="0"/>
              <a:t>(</a:t>
            </a:r>
            <a:r>
              <a:rPr lang="zh-TW" altLang="en-US" sz="2000" dirty="0"/>
              <a:t>文字</a:t>
            </a:r>
            <a:r>
              <a:rPr lang="en-US" altLang="zh-TW" sz="2000" dirty="0"/>
              <a:t>)</a:t>
            </a:r>
            <a:r>
              <a:rPr lang="zh-TW" altLang="en-US" sz="2000" dirty="0"/>
              <a:t>，點擊</a:t>
            </a:r>
            <a:r>
              <a:rPr lang="en-US" altLang="zh-TW" sz="2000" dirty="0"/>
              <a:t>[</a:t>
            </a:r>
            <a:r>
              <a:rPr lang="zh-TW" altLang="en-US" sz="2000" dirty="0"/>
              <a:t>開始使用</a:t>
            </a:r>
            <a:r>
              <a:rPr lang="en-US" altLang="zh-TW" sz="2000" dirty="0"/>
              <a:t>]</a:t>
            </a:r>
            <a:r>
              <a:rPr lang="zh-TW" altLang="en-US" sz="2000" dirty="0"/>
              <a:t>進入論文上傳頁，</a:t>
            </a:r>
            <a:r>
              <a:rPr lang="en-US" altLang="zh-TW" sz="2000" dirty="0"/>
              <a:t> [</a:t>
            </a:r>
            <a:r>
              <a:rPr lang="zh-TW" altLang="en-US" sz="2000" dirty="0"/>
              <a:t>開始使用</a:t>
            </a:r>
            <a:r>
              <a:rPr lang="en-US" altLang="zh-TW" sz="2000" dirty="0"/>
              <a:t>]</a:t>
            </a:r>
            <a:r>
              <a:rPr lang="zh-TW" altLang="zh-TW" sz="2000" dirty="0"/>
              <a:t>鈕需加入 Hover 狀態</a:t>
            </a:r>
            <a:endParaRPr lang="en-US" altLang="zh-TW" sz="2000" dirty="0"/>
          </a:p>
          <a:p>
            <a:r>
              <a:rPr lang="zh-TW" altLang="en-US" sz="2000" dirty="0"/>
              <a:t>下方：網站功能說明，文字請見下頁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766FB1B3-745F-8497-3EAF-D21309674A79}"/>
              </a:ext>
            </a:extLst>
          </p:cNvPr>
          <p:cNvGrpSpPr/>
          <p:nvPr/>
        </p:nvGrpSpPr>
        <p:grpSpPr>
          <a:xfrm>
            <a:off x="6096000" y="599930"/>
            <a:ext cx="5837425" cy="3997290"/>
            <a:chOff x="6096000" y="599930"/>
            <a:chExt cx="5837425" cy="399729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B018E2E-A10A-C8E8-D693-3303F93AF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599930"/>
              <a:ext cx="5837425" cy="3189246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95B9779-2032-6E04-2B8D-5EFA79D9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84" r="668"/>
            <a:stretch>
              <a:fillRect/>
            </a:stretch>
          </p:blipFill>
          <p:spPr>
            <a:xfrm>
              <a:off x="6096000" y="3789175"/>
              <a:ext cx="5837425" cy="808045"/>
            </a:xfrm>
            <a:prstGeom prst="rect">
              <a:avLst/>
            </a:prstGeom>
          </p:spPr>
        </p:pic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962F4F55-7B80-2EA7-0E71-331A9D99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63" y="5943600"/>
            <a:ext cx="2081796" cy="70312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CEF1C54-F3BB-5495-D4BF-16CB55A2D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93" y="5944370"/>
            <a:ext cx="2081797" cy="698543"/>
          </a:xfrm>
          <a:prstGeom prst="rect">
            <a:avLst/>
          </a:prstGeom>
        </p:spPr>
      </p:pic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CE1E23A0-B5FD-6BC2-DB8C-9FFF80F6BC64}"/>
              </a:ext>
            </a:extLst>
          </p:cNvPr>
          <p:cNvSpPr/>
          <p:nvPr/>
        </p:nvSpPr>
        <p:spPr>
          <a:xfrm>
            <a:off x="9142464" y="6041708"/>
            <a:ext cx="579120" cy="503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B00258-9358-0E17-CD0B-1519CEA558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06" y="2102296"/>
            <a:ext cx="5779827" cy="221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CC112F-2F4D-6AD1-019B-12162189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28905"/>
            <a:ext cx="10515600" cy="1325563"/>
          </a:xfrm>
        </p:spPr>
        <p:txBody>
          <a:bodyPr/>
          <a:lstStyle/>
          <a:p>
            <a:r>
              <a:rPr lang="zh-TW" altLang="en-US" dirty="0"/>
              <a:t>入口頁下方說明文字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3A8007-F1CE-323E-4C57-2ED534E3E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72013"/>
              </p:ext>
            </p:extLst>
          </p:nvPr>
        </p:nvGraphicFramePr>
        <p:xfrm>
          <a:off x="563880" y="1501140"/>
          <a:ext cx="11209020" cy="2087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03">
                  <a:extLst>
                    <a:ext uri="{9D8B030D-6E8A-4147-A177-3AD203B41FA5}">
                      <a16:colId xmlns:a16="http://schemas.microsoft.com/office/drawing/2014/main" val="2316816171"/>
                    </a:ext>
                  </a:extLst>
                </a:gridCol>
                <a:gridCol w="2554464">
                  <a:extLst>
                    <a:ext uri="{9D8B030D-6E8A-4147-A177-3AD203B41FA5}">
                      <a16:colId xmlns:a16="http://schemas.microsoft.com/office/drawing/2014/main" val="2000404138"/>
                    </a:ext>
                  </a:extLst>
                </a:gridCol>
                <a:gridCol w="2377182">
                  <a:extLst>
                    <a:ext uri="{9D8B030D-6E8A-4147-A177-3AD203B41FA5}">
                      <a16:colId xmlns:a16="http://schemas.microsoft.com/office/drawing/2014/main" val="4053138420"/>
                    </a:ext>
                  </a:extLst>
                </a:gridCol>
                <a:gridCol w="2497191">
                  <a:extLst>
                    <a:ext uri="{9D8B030D-6E8A-4147-A177-3AD203B41FA5}">
                      <a16:colId xmlns:a16="http://schemas.microsoft.com/office/drawing/2014/main" val="2666356438"/>
                    </a:ext>
                  </a:extLst>
                </a:gridCol>
                <a:gridCol w="2506980">
                  <a:extLst>
                    <a:ext uri="{9D8B030D-6E8A-4147-A177-3AD203B41FA5}">
                      <a16:colId xmlns:a16="http://schemas.microsoft.com/office/drawing/2014/main" val="2848292423"/>
                    </a:ext>
                  </a:extLst>
                </a:gridCol>
              </a:tblGrid>
              <a:tr h="5095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為什麼選擇 Scholar Coach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781673"/>
                  </a:ext>
                </a:extLst>
              </a:tr>
              <a:tr h="389382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標題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/>
                        <a:t>自動化結構分析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多維度理論套用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新穎性過濾機制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結構化計畫草案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465707"/>
                  </a:ext>
                </a:extLst>
              </a:tr>
              <a:tr h="723138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說明文字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深入提取論文中的核心理論與方法論，精準識別現有研究的創新基石。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內建十種學術創新模型，引導您從尺度轉換、類比遷移等多元視角切入。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自動比對現有學術庫資料，排除重複方向，確保生成的提案具備實質研究新意。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一鍵生成包含研究動機與預期目標的結構化大綱，大幅提升專案撰寫效率。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92010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D437575C-4DB3-88EE-BDCB-08E4F0EFC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60574"/>
              </p:ext>
            </p:extLst>
          </p:nvPr>
        </p:nvGraphicFramePr>
        <p:xfrm>
          <a:off x="563880" y="4286821"/>
          <a:ext cx="11209019" cy="1943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260">
                  <a:extLst>
                    <a:ext uri="{9D8B030D-6E8A-4147-A177-3AD203B41FA5}">
                      <a16:colId xmlns:a16="http://schemas.microsoft.com/office/drawing/2014/main" val="2746544904"/>
                    </a:ext>
                  </a:extLst>
                </a:gridCol>
                <a:gridCol w="3459480">
                  <a:extLst>
                    <a:ext uri="{9D8B030D-6E8A-4147-A177-3AD203B41FA5}">
                      <a16:colId xmlns:a16="http://schemas.microsoft.com/office/drawing/2014/main" val="2951120158"/>
                    </a:ext>
                  </a:extLst>
                </a:gridCol>
                <a:gridCol w="3214670">
                  <a:extLst>
                    <a:ext uri="{9D8B030D-6E8A-4147-A177-3AD203B41FA5}">
                      <a16:colId xmlns:a16="http://schemas.microsoft.com/office/drawing/2014/main" val="2350915476"/>
                    </a:ext>
                  </a:extLst>
                </a:gridCol>
                <a:gridCol w="3216609">
                  <a:extLst>
                    <a:ext uri="{9D8B030D-6E8A-4147-A177-3AD203B41FA5}">
                      <a16:colId xmlns:a16="http://schemas.microsoft.com/office/drawing/2014/main" val="1745039427"/>
                    </a:ext>
                  </a:extLst>
                </a:gridCol>
              </a:tblGrid>
              <a:tr h="38938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簡單三步驟，產出高品質提案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011284"/>
                  </a:ext>
                </a:extLst>
              </a:tr>
              <a:tr h="389382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標題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TW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上傳核心論文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r>
                        <a:rPr lang="zh-TW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配置創新路徑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r>
                        <a:rPr lang="zh-TW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獲取研究藍圖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844635"/>
                  </a:ext>
                </a:extLst>
              </a:tr>
              <a:tr h="723138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說明文字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上傳單篇 PDF 論文，讓系統在幾秒鐘內讀懂其理論結構與研究侷限。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根據您的研究偏好，選擇合適的理論創新模板與生成的深度參數。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檢視生成的創新想法，並產出具備完整邏輯架構的研究提案大綱。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31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67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4B824-7557-D274-A6EE-44FD3D41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3FF4A6-5880-2ABA-D723-8842C830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20" y="127206"/>
            <a:ext cx="6557630" cy="728179"/>
          </a:xfrm>
        </p:spPr>
        <p:txBody>
          <a:bodyPr>
            <a:normAutofit/>
          </a:bodyPr>
          <a:lstStyle/>
          <a:p>
            <a:r>
              <a:rPr lang="zh-TW" altLang="en-US" dirty="0"/>
              <a:t>帳號區塊</a:t>
            </a:r>
            <a:r>
              <a:rPr lang="en-US" altLang="zh-TW" dirty="0"/>
              <a:t>(</a:t>
            </a:r>
            <a:r>
              <a:rPr lang="zh-TW" altLang="en-US" dirty="0"/>
              <a:t>登入</a:t>
            </a:r>
            <a:r>
              <a:rPr lang="en-US" altLang="zh-TW" dirty="0"/>
              <a:t>/</a:t>
            </a:r>
            <a:r>
              <a:rPr lang="zh-TW" altLang="en-US" dirty="0"/>
              <a:t>註冊帳號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37EB6021-47D9-ED3B-83BF-46B73BF01CF6}"/>
              </a:ext>
            </a:extLst>
          </p:cNvPr>
          <p:cNvSpPr/>
          <p:nvPr/>
        </p:nvSpPr>
        <p:spPr>
          <a:xfrm rot="19261652">
            <a:off x="1594797" y="3851428"/>
            <a:ext cx="581733" cy="1179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40057F95-319A-B5BA-25F3-1B129FB27148}"/>
              </a:ext>
            </a:extLst>
          </p:cNvPr>
          <p:cNvSpPr/>
          <p:nvPr/>
        </p:nvSpPr>
        <p:spPr>
          <a:xfrm rot="12063214">
            <a:off x="9467866" y="2481240"/>
            <a:ext cx="581733" cy="1179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F1B3CCD-524E-5709-BAEC-B634ABA5D18C}"/>
              </a:ext>
            </a:extLst>
          </p:cNvPr>
          <p:cNvSpPr txBox="1"/>
          <p:nvPr/>
        </p:nvSpPr>
        <p:spPr>
          <a:xfrm>
            <a:off x="3107769" y="6418011"/>
            <a:ext cx="2449354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/>
              <a:t>(</a:t>
            </a:r>
            <a:r>
              <a:rPr lang="zh-TW" altLang="en-US" sz="1400" dirty="0"/>
              <a:t>彈窗，背景全屏灰色遮罩</a:t>
            </a:r>
            <a:r>
              <a:rPr lang="en-US" altLang="zh-TW" sz="1400" dirty="0"/>
              <a:t>)</a:t>
            </a:r>
            <a:r>
              <a:rPr lang="zh-TW" altLang="en-US" sz="1400" dirty="0"/>
              <a:t> 　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66B4C674-9FE8-B981-878E-3B4FA188A440}"/>
              </a:ext>
            </a:extLst>
          </p:cNvPr>
          <p:cNvGrpSpPr/>
          <p:nvPr/>
        </p:nvGrpSpPr>
        <p:grpSpPr>
          <a:xfrm>
            <a:off x="295289" y="1295989"/>
            <a:ext cx="3382446" cy="2503744"/>
            <a:chOff x="295289" y="1519263"/>
            <a:chExt cx="3382446" cy="2503744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88276843-983F-DB2D-F98B-2138735314EB}"/>
                </a:ext>
              </a:extLst>
            </p:cNvPr>
            <p:cNvGrpSpPr/>
            <p:nvPr/>
          </p:nvGrpSpPr>
          <p:grpSpPr>
            <a:xfrm>
              <a:off x="295289" y="1519263"/>
              <a:ext cx="3382446" cy="1909735"/>
              <a:chOff x="295289" y="1519263"/>
              <a:chExt cx="3382446" cy="1909735"/>
            </a:xfrm>
          </p:grpSpPr>
          <p:pic>
            <p:nvPicPr>
              <p:cNvPr id="4" name="內容版面配置區 4">
                <a:extLst>
                  <a:ext uri="{FF2B5EF4-FFF2-40B4-BE49-F238E27FC236}">
                    <a16:creationId xmlns:a16="http://schemas.microsoft.com/office/drawing/2014/main" id="{F6A857F1-5114-C214-D3AD-A4125F90C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64612" b="62324"/>
              <a:stretch>
                <a:fillRect/>
              </a:stretch>
            </p:blipFill>
            <p:spPr>
              <a:xfrm>
                <a:off x="295289" y="1827040"/>
                <a:ext cx="3382446" cy="160195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0607BE8-2850-F29D-B6D3-337A06B77F9B}"/>
                  </a:ext>
                </a:extLst>
              </p:cNvPr>
              <p:cNvSpPr txBox="1"/>
              <p:nvPr/>
            </p:nvSpPr>
            <p:spPr>
              <a:xfrm>
                <a:off x="1476095" y="1519263"/>
                <a:ext cx="76258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1400" dirty="0">
                    <a:solidFill>
                      <a:schemeClr val="accent1">
                        <a:lumMod val="75000"/>
                      </a:schemeClr>
                    </a:solidFill>
                  </a:rPr>
                  <a:t>未登入</a:t>
                </a:r>
                <a:endParaRPr lang="zh-TW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8DAFF81-3460-3311-5C2C-4F32CA7390AA}"/>
                </a:ext>
              </a:extLst>
            </p:cNvPr>
            <p:cNvSpPr txBox="1"/>
            <p:nvPr/>
          </p:nvSpPr>
          <p:spPr>
            <a:xfrm>
              <a:off x="468953" y="3455017"/>
              <a:ext cx="27910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1400" dirty="0"/>
                <a:t>未登入時，點擊 </a:t>
              </a:r>
              <a:r>
                <a:rPr lang="en-US" altLang="zh-TW" sz="1400" dirty="0"/>
                <a:t>[</a:t>
              </a:r>
              <a:r>
                <a:rPr lang="zh-TW" altLang="en-US" sz="1400" dirty="0"/>
                <a:t>登入</a:t>
              </a:r>
              <a:r>
                <a:rPr lang="en-US" altLang="zh-TW" sz="1400" dirty="0"/>
                <a:t>/</a:t>
              </a:r>
              <a:r>
                <a:rPr lang="zh-TW" altLang="en-US" sz="1400" dirty="0"/>
                <a:t>註冊帳號</a:t>
              </a:r>
              <a:r>
                <a:rPr lang="en-US" altLang="zh-TW" sz="1400" dirty="0"/>
                <a:t>]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BDBD4E03-F69F-3AE4-9E91-BBE99032C33D}"/>
                </a:ext>
              </a:extLst>
            </p:cNvPr>
            <p:cNvSpPr txBox="1"/>
            <p:nvPr/>
          </p:nvSpPr>
          <p:spPr>
            <a:xfrm>
              <a:off x="468953" y="3715230"/>
              <a:ext cx="19893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1400" dirty="0"/>
                <a:t>跳出 </a:t>
              </a:r>
              <a:r>
                <a:rPr lang="en-US" altLang="zh-TW" sz="1400" dirty="0"/>
                <a:t>google</a:t>
              </a:r>
              <a:r>
                <a:rPr lang="zh-TW" altLang="en-US" sz="1400" dirty="0"/>
                <a:t> 登入窗口</a:t>
              </a:r>
              <a:endParaRPr lang="en-US" altLang="zh-TW" sz="1400" dirty="0"/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F90E399-88A6-A0F3-F675-F3C6F39E40AF}"/>
              </a:ext>
            </a:extLst>
          </p:cNvPr>
          <p:cNvSpPr txBox="1"/>
          <p:nvPr/>
        </p:nvSpPr>
        <p:spPr>
          <a:xfrm>
            <a:off x="4909930" y="2474130"/>
            <a:ext cx="2524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google</a:t>
            </a:r>
            <a:r>
              <a:rPr lang="zh-TW" altLang="en-US" sz="1400" dirty="0"/>
              <a:t> 帳號為唯一登入方式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64387D1-CA66-CFDD-5107-A6A30A6F3556}"/>
              </a:ext>
            </a:extLst>
          </p:cNvPr>
          <p:cNvSpPr txBox="1"/>
          <p:nvPr/>
        </p:nvSpPr>
        <p:spPr>
          <a:xfrm>
            <a:off x="4673339" y="2781907"/>
            <a:ext cx="29977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**第一次登入</a:t>
            </a:r>
            <a:r>
              <a:rPr lang="en-US" altLang="zh-TW" sz="1400" dirty="0">
                <a:solidFill>
                  <a:srgbClr val="FF0000"/>
                </a:solidFill>
              </a:rPr>
              <a:t>(</a:t>
            </a:r>
            <a:r>
              <a:rPr lang="zh-TW" altLang="en-US" sz="1400" dirty="0">
                <a:solidFill>
                  <a:srgbClr val="FF0000"/>
                </a:solidFill>
              </a:rPr>
              <a:t>註冊時</a:t>
            </a:r>
            <a:r>
              <a:rPr lang="en-US" altLang="zh-TW" sz="1400" dirty="0">
                <a:solidFill>
                  <a:srgbClr val="FF0000"/>
                </a:solidFill>
              </a:rPr>
              <a:t>)</a:t>
            </a:r>
            <a:r>
              <a:rPr lang="zh-TW" altLang="en-US" sz="1400" dirty="0">
                <a:solidFill>
                  <a:srgbClr val="FF0000"/>
                </a:solidFill>
              </a:rPr>
              <a:t>贈送 </a:t>
            </a:r>
            <a:r>
              <a:rPr lang="en-US" altLang="zh-TW" sz="1400" dirty="0">
                <a:solidFill>
                  <a:srgbClr val="FF0000"/>
                </a:solidFill>
              </a:rPr>
              <a:t>2</a:t>
            </a:r>
            <a:r>
              <a:rPr lang="zh-TW" altLang="en-US" sz="1400" dirty="0">
                <a:solidFill>
                  <a:srgbClr val="FF0000"/>
                </a:solidFill>
              </a:rPr>
              <a:t> 點點數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DE8F7E-913A-55DC-B10E-EAB81E1EF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582" y="3848416"/>
            <a:ext cx="3621410" cy="2693670"/>
          </a:xfrm>
          <a:prstGeom prst="rect">
            <a:avLst/>
          </a:prstGeom>
        </p:spPr>
      </p:pic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1067F8EC-C0C4-A5C5-8595-25646072770B}"/>
              </a:ext>
            </a:extLst>
          </p:cNvPr>
          <p:cNvSpPr/>
          <p:nvPr/>
        </p:nvSpPr>
        <p:spPr>
          <a:xfrm rot="16200000">
            <a:off x="6490933" y="4539267"/>
            <a:ext cx="581733" cy="1179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FBC843F1-7094-D58C-7BE3-131EF341C2AA}"/>
              </a:ext>
            </a:extLst>
          </p:cNvPr>
          <p:cNvGrpSpPr/>
          <p:nvPr/>
        </p:nvGrpSpPr>
        <p:grpSpPr>
          <a:xfrm>
            <a:off x="8889356" y="383770"/>
            <a:ext cx="2969486" cy="1923553"/>
            <a:chOff x="8927224" y="124062"/>
            <a:chExt cx="2969486" cy="1923553"/>
          </a:xfrm>
        </p:grpSpPr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0CBEBFEA-7121-3300-9F5A-888A676BDCFA}"/>
                </a:ext>
              </a:extLst>
            </p:cNvPr>
            <p:cNvGrpSpPr/>
            <p:nvPr/>
          </p:nvGrpSpPr>
          <p:grpSpPr>
            <a:xfrm>
              <a:off x="8927224" y="124062"/>
              <a:ext cx="2969486" cy="1923553"/>
              <a:chOff x="7910071" y="1519263"/>
              <a:chExt cx="2969486" cy="1923553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EA9AF681-40BA-7F67-B70D-FF459C22D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0071" y="1840857"/>
                <a:ext cx="2969486" cy="16019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DC53ED9-9142-AFD3-3995-37DD2E067D05}"/>
                  </a:ext>
                </a:extLst>
              </p:cNvPr>
              <p:cNvSpPr txBox="1"/>
              <p:nvPr/>
            </p:nvSpPr>
            <p:spPr>
              <a:xfrm>
                <a:off x="9013521" y="1519263"/>
                <a:ext cx="76258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1400" dirty="0">
                    <a:solidFill>
                      <a:schemeClr val="accent1">
                        <a:lumMod val="75000"/>
                      </a:schemeClr>
                    </a:solidFill>
                  </a:rPr>
                  <a:t>已登入</a:t>
                </a:r>
                <a:endParaRPr lang="zh-TW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AEE0109-8954-99D4-7775-941D6E24ACF4}"/>
                </a:ext>
              </a:extLst>
            </p:cNvPr>
            <p:cNvSpPr/>
            <p:nvPr/>
          </p:nvSpPr>
          <p:spPr>
            <a:xfrm>
              <a:off x="9135783" y="1168911"/>
              <a:ext cx="2327077" cy="708992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B57E14D9-A73E-EBD3-72BF-158F27F151B8}"/>
                </a:ext>
              </a:extLst>
            </p:cNvPr>
            <p:cNvSpPr txBox="1"/>
            <p:nvPr/>
          </p:nvSpPr>
          <p:spPr>
            <a:xfrm>
              <a:off x="10209044" y="1455681"/>
              <a:ext cx="86125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50" dirty="0">
                  <a:solidFill>
                    <a:srgbClr val="FF0000"/>
                  </a:solidFill>
                </a:rPr>
                <a:t>Scholar</a:t>
              </a:r>
            </a:p>
            <a:p>
              <a:r>
                <a:rPr lang="en-US" altLang="zh-TW" sz="1050" dirty="0">
                  <a:solidFill>
                    <a:srgbClr val="FF0000"/>
                  </a:solidFill>
                </a:rPr>
                <a:t>coach</a:t>
              </a:r>
              <a:r>
                <a:rPr lang="zh-TW" altLang="en-US" sz="1050" dirty="0">
                  <a:solidFill>
                    <a:srgbClr val="FF0000"/>
                  </a:solidFill>
                </a:rPr>
                <a:t> 餘額</a:t>
              </a:r>
              <a:endParaRPr lang="zh-TW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5ED4B37-3C30-7437-9BBF-AFA1DAFB8CED}"/>
                </a:ext>
              </a:extLst>
            </p:cNvPr>
            <p:cNvSpPr/>
            <p:nvPr/>
          </p:nvSpPr>
          <p:spPr>
            <a:xfrm>
              <a:off x="9690884" y="1526673"/>
              <a:ext cx="518160" cy="2438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F21AE2E3-A1C2-BC21-16E8-34FB0FF2C1B2}"/>
              </a:ext>
            </a:extLst>
          </p:cNvPr>
          <p:cNvSpPr txBox="1">
            <a:spLocks/>
          </p:cNvSpPr>
          <p:nvPr/>
        </p:nvSpPr>
        <p:spPr>
          <a:xfrm>
            <a:off x="468953" y="834293"/>
            <a:ext cx="3124200" cy="3198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進入網站後，各頁面左上角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E5D5DF-FA4B-32DF-C47F-8B642F824DA8}"/>
              </a:ext>
            </a:extLst>
          </p:cNvPr>
          <p:cNvSpPr/>
          <p:nvPr/>
        </p:nvSpPr>
        <p:spPr>
          <a:xfrm>
            <a:off x="1199322" y="2228915"/>
            <a:ext cx="1913390" cy="67882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3FD81E8-98ED-F180-6920-A003A6C2FCD5}"/>
              </a:ext>
            </a:extLst>
          </p:cNvPr>
          <p:cNvSpPr txBox="1"/>
          <p:nvPr/>
        </p:nvSpPr>
        <p:spPr>
          <a:xfrm>
            <a:off x="9125793" y="1175207"/>
            <a:ext cx="13829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/>
              <a:t>google</a:t>
            </a:r>
            <a:r>
              <a:rPr lang="zh-TW" altLang="en-US" sz="1100" dirty="0"/>
              <a:t> 頭貼、名稱</a:t>
            </a:r>
            <a:endParaRPr lang="zh-TW" altLang="en-US" sz="1400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0E083203-5DAE-0423-FCFA-61FB874279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175" r="-2851" b="-1"/>
          <a:stretch>
            <a:fillRect/>
          </a:stretch>
        </p:blipFill>
        <p:spPr>
          <a:xfrm>
            <a:off x="2620716" y="2474130"/>
            <a:ext cx="399735" cy="31119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CFAEF33-6DF6-F968-C336-EB041CC54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0654" y="3565539"/>
            <a:ext cx="3049363" cy="288481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279DAFF-5E40-4CFF-41E6-FC94626D1C49}"/>
              </a:ext>
            </a:extLst>
          </p:cNvPr>
          <p:cNvSpPr/>
          <p:nvPr/>
        </p:nvSpPr>
        <p:spPr>
          <a:xfrm>
            <a:off x="3260035" y="4319229"/>
            <a:ext cx="1912465" cy="98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67A83D2-F701-07EC-E1A6-EA0C4B15B64D}"/>
              </a:ext>
            </a:extLst>
          </p:cNvPr>
          <p:cNvSpPr txBox="1"/>
          <p:nvPr/>
        </p:nvSpPr>
        <p:spPr>
          <a:xfrm>
            <a:off x="767008" y="5164085"/>
            <a:ext cx="16053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400" dirty="0"/>
              <a:t>說明文字 </a:t>
            </a:r>
            <a:r>
              <a:rPr lang="en-US" altLang="zh-TW" sz="1400" dirty="0"/>
              <a:t>+</a:t>
            </a:r>
          </a:p>
          <a:p>
            <a:pPr algn="r"/>
            <a:r>
              <a:rPr lang="zh-TW" altLang="en-US" sz="1400" dirty="0"/>
              <a:t>首次使用免費提示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8E867D5E-5B3B-4727-6C13-9AD7D0DD55BF}"/>
              </a:ext>
            </a:extLst>
          </p:cNvPr>
          <p:cNvCxnSpPr>
            <a:cxnSpLocks/>
            <a:stCxn id="14" idx="1"/>
            <a:endCxn id="20" idx="3"/>
          </p:cNvCxnSpPr>
          <p:nvPr/>
        </p:nvCxnSpPr>
        <p:spPr>
          <a:xfrm flipH="1">
            <a:off x="2372326" y="4814104"/>
            <a:ext cx="887709" cy="6115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48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588FC-9104-7B40-8F0D-EC86BFAC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56563810-6E57-7AC5-AD19-7F2773A1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205" y="0"/>
            <a:ext cx="3977912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D02CB14-A8E4-8DB5-C326-5192E516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20" y="127206"/>
            <a:ext cx="3927915" cy="728179"/>
          </a:xfrm>
        </p:spPr>
        <p:txBody>
          <a:bodyPr>
            <a:normAutofit/>
          </a:bodyPr>
          <a:lstStyle/>
          <a:p>
            <a:r>
              <a:rPr lang="zh-TW" altLang="en-US" dirty="0"/>
              <a:t>帳號區塊</a:t>
            </a:r>
            <a:r>
              <a:rPr lang="en-US" altLang="zh-TW" dirty="0"/>
              <a:t>(</a:t>
            </a:r>
            <a:r>
              <a:rPr lang="zh-TW" altLang="en-US" dirty="0"/>
              <a:t>儲值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023E1A6-73D3-C95D-C38B-4B3DE82305AD}"/>
              </a:ext>
            </a:extLst>
          </p:cNvPr>
          <p:cNvSpPr txBox="1">
            <a:spLocks/>
          </p:cNvSpPr>
          <p:nvPr/>
        </p:nvSpPr>
        <p:spPr>
          <a:xfrm>
            <a:off x="468953" y="796721"/>
            <a:ext cx="3124200" cy="3198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登入後，點擊帳號區塊</a:t>
            </a: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BB101796-1F3F-7294-C89E-72C8F814065F}"/>
              </a:ext>
            </a:extLst>
          </p:cNvPr>
          <p:cNvGrpSpPr/>
          <p:nvPr/>
        </p:nvGrpSpPr>
        <p:grpSpPr>
          <a:xfrm>
            <a:off x="494865" y="1389381"/>
            <a:ext cx="2969486" cy="1601959"/>
            <a:chOff x="1422763" y="1389381"/>
            <a:chExt cx="2969486" cy="1601959"/>
          </a:xfrm>
        </p:grpSpPr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AF7D41BF-48BB-D386-4C14-F3F5546BC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2763" y="1389381"/>
              <a:ext cx="2969486" cy="16019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FE4FF82-26A7-4D9A-0C87-D780EE4E8DE2}"/>
                </a:ext>
              </a:extLst>
            </p:cNvPr>
            <p:cNvSpPr/>
            <p:nvPr/>
          </p:nvSpPr>
          <p:spPr>
            <a:xfrm>
              <a:off x="1624390" y="2132106"/>
              <a:ext cx="2327077" cy="708992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5" name="箭號: 向下 34">
            <a:extLst>
              <a:ext uri="{FF2B5EF4-FFF2-40B4-BE49-F238E27FC236}">
                <a16:creationId xmlns:a16="http://schemas.microsoft.com/office/drawing/2014/main" id="{042AA7A4-CEA2-541E-9EDE-DF697C7A505E}"/>
              </a:ext>
            </a:extLst>
          </p:cNvPr>
          <p:cNvSpPr/>
          <p:nvPr/>
        </p:nvSpPr>
        <p:spPr>
          <a:xfrm rot="16200000">
            <a:off x="4459731" y="762651"/>
            <a:ext cx="581733" cy="3467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E7E9E77-261B-3BE8-3228-979F21686542}"/>
              </a:ext>
            </a:extLst>
          </p:cNvPr>
          <p:cNvSpPr txBox="1"/>
          <p:nvPr/>
        </p:nvSpPr>
        <p:spPr>
          <a:xfrm>
            <a:off x="8748105" y="986085"/>
            <a:ext cx="13633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/>
              <a:t>Google</a:t>
            </a:r>
            <a:r>
              <a:rPr lang="zh-TW" altLang="en-US" sz="1100" dirty="0"/>
              <a:t>信箱 </a:t>
            </a:r>
            <a:endParaRPr lang="zh-TW" altLang="en-US" sz="1400" dirty="0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77E235B-F457-E330-2C68-5A7598EA0ABF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8427724" y="1116568"/>
            <a:ext cx="320381" cy="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5BB05D6-1842-3238-E24E-1E1D4250C868}"/>
              </a:ext>
            </a:extLst>
          </p:cNvPr>
          <p:cNvCxnSpPr>
            <a:cxnSpLocks/>
          </p:cNvCxnSpPr>
          <p:nvPr/>
        </p:nvCxnSpPr>
        <p:spPr>
          <a:xfrm>
            <a:off x="8037616" y="1389381"/>
            <a:ext cx="390108" cy="65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6C4410D-C71E-57FB-3833-F2E597F1D8B0}"/>
              </a:ext>
            </a:extLst>
          </p:cNvPr>
          <p:cNvSpPr txBox="1"/>
          <p:nvPr/>
        </p:nvSpPr>
        <p:spPr>
          <a:xfrm>
            <a:off x="8415572" y="1312737"/>
            <a:ext cx="16111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登出並回到入口頁 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A6F146F-DEF8-4CC4-0C1C-2EA5EAC3D638}"/>
              </a:ext>
            </a:extLst>
          </p:cNvPr>
          <p:cNvSpPr txBox="1"/>
          <p:nvPr/>
        </p:nvSpPr>
        <p:spPr>
          <a:xfrm>
            <a:off x="10550893" y="3326333"/>
            <a:ext cx="16295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儲值點數（３個選項）</a:t>
            </a:r>
            <a:endParaRPr lang="en-US" altLang="zh-TW" sz="1100" dirty="0"/>
          </a:p>
          <a:p>
            <a:r>
              <a:rPr lang="en-US" altLang="zh-TW" sz="1100" dirty="0"/>
              <a:t>1</a:t>
            </a:r>
            <a:r>
              <a:rPr lang="zh-TW" altLang="en-US" sz="1100" dirty="0"/>
              <a:t>點：</a:t>
            </a:r>
            <a:r>
              <a:rPr lang="en-US" altLang="zh-TW" sz="1100" dirty="0"/>
              <a:t>30</a:t>
            </a:r>
            <a:r>
              <a:rPr lang="zh-TW" altLang="en-US" sz="1100" dirty="0"/>
              <a:t>元</a:t>
            </a:r>
            <a:endParaRPr lang="en-US" altLang="zh-TW" sz="1100" dirty="0"/>
          </a:p>
          <a:p>
            <a:r>
              <a:rPr lang="en-US" altLang="zh-TW" sz="1100" dirty="0"/>
              <a:t>2</a:t>
            </a:r>
            <a:r>
              <a:rPr lang="zh-TW" altLang="en-US" sz="1100" dirty="0"/>
              <a:t>點：</a:t>
            </a:r>
            <a:r>
              <a:rPr lang="en-US" altLang="zh-TW" sz="1100" dirty="0"/>
              <a:t>60</a:t>
            </a:r>
            <a:r>
              <a:rPr lang="zh-TW" altLang="en-US" sz="1100" dirty="0"/>
              <a:t>元</a:t>
            </a:r>
            <a:endParaRPr lang="en-US" altLang="zh-TW" sz="1100" dirty="0"/>
          </a:p>
          <a:p>
            <a:r>
              <a:rPr lang="en-US" altLang="zh-TW" sz="1100" dirty="0"/>
              <a:t>4</a:t>
            </a:r>
            <a:r>
              <a:rPr lang="zh-TW" altLang="en-US" sz="1100" dirty="0"/>
              <a:t>點：</a:t>
            </a:r>
            <a:r>
              <a:rPr lang="en-US" altLang="zh-TW" sz="1100" dirty="0"/>
              <a:t>100</a:t>
            </a:r>
            <a:r>
              <a:rPr lang="zh-TW" altLang="en-US" sz="1100" dirty="0"/>
              <a:t>元</a:t>
            </a:r>
            <a:endParaRPr lang="en-US" altLang="zh-TW" sz="1100" dirty="0"/>
          </a:p>
          <a:p>
            <a:endParaRPr lang="en-US" altLang="zh-TW" sz="1100" dirty="0"/>
          </a:p>
          <a:p>
            <a:r>
              <a:rPr lang="zh-TW" altLang="en-US" sz="1100" dirty="0"/>
              <a:t>選取後改變選項顏色，按 </a:t>
            </a:r>
            <a:r>
              <a:rPr lang="en-US" altLang="zh-TW" sz="1100" dirty="0"/>
              <a:t>[</a:t>
            </a:r>
            <a:r>
              <a:rPr lang="zh-TW" altLang="en-US" sz="1100" dirty="0"/>
              <a:t>前往儲值</a:t>
            </a:r>
            <a:r>
              <a:rPr lang="en-US" altLang="zh-TW" sz="1100" dirty="0"/>
              <a:t>] </a:t>
            </a:r>
            <a:r>
              <a:rPr lang="zh-TW" altLang="en-US" sz="1100" dirty="0"/>
              <a:t>前往</a:t>
            </a:r>
            <a:r>
              <a:rPr lang="en-US" altLang="zh-TW" sz="1100" dirty="0" err="1"/>
              <a:t>linepay</a:t>
            </a:r>
            <a:endParaRPr lang="en-US" altLang="zh-TW" sz="1100" dirty="0"/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5A66DB55-BE47-0270-5A49-540F5CB1E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769" y="3264153"/>
            <a:ext cx="2550521" cy="3219033"/>
          </a:xfrm>
          <a:prstGeom prst="rect">
            <a:avLst/>
          </a:prstGeom>
        </p:spPr>
      </p:pic>
      <p:sp>
        <p:nvSpPr>
          <p:cNvPr id="54" name="文字方塊 53">
            <a:extLst>
              <a:ext uri="{FF2B5EF4-FFF2-40B4-BE49-F238E27FC236}">
                <a16:creationId xmlns:a16="http://schemas.microsoft.com/office/drawing/2014/main" id="{C82AAEF2-1EDC-D919-C4F2-8443FF929011}"/>
              </a:ext>
            </a:extLst>
          </p:cNvPr>
          <p:cNvSpPr txBox="1"/>
          <p:nvPr/>
        </p:nvSpPr>
        <p:spPr>
          <a:xfrm>
            <a:off x="975660" y="6451343"/>
            <a:ext cx="4442500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/>
              <a:t>(</a:t>
            </a:r>
            <a:r>
              <a:rPr lang="zh-TW" altLang="en-US" sz="1400" dirty="0"/>
              <a:t>彈窗，背景全屏灰色遮罩。此為模擬</a:t>
            </a:r>
            <a:r>
              <a:rPr lang="en-US" altLang="zh-TW" sz="1400" dirty="0"/>
              <a:t>line pay</a:t>
            </a:r>
            <a:r>
              <a:rPr lang="zh-TW" altLang="en-US" sz="1400" dirty="0"/>
              <a:t>視窗</a:t>
            </a:r>
            <a:r>
              <a:rPr lang="en-US" altLang="zh-TW" sz="1400" dirty="0"/>
              <a:t>)</a:t>
            </a:r>
            <a:r>
              <a:rPr lang="zh-TW" altLang="en-US" sz="1400" dirty="0"/>
              <a:t> 　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8F828D48-B725-8F0D-080D-5FCED2AA7562}"/>
              </a:ext>
            </a:extLst>
          </p:cNvPr>
          <p:cNvSpPr txBox="1"/>
          <p:nvPr/>
        </p:nvSpPr>
        <p:spPr>
          <a:xfrm>
            <a:off x="4217070" y="5814911"/>
            <a:ext cx="21556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 err="1"/>
              <a:t>Linepay</a:t>
            </a:r>
            <a:r>
              <a:rPr lang="en-US" altLang="zh-TW" sz="1400" dirty="0"/>
              <a:t> </a:t>
            </a:r>
            <a:r>
              <a:rPr lang="zh-TW" altLang="en-US" sz="1400" dirty="0"/>
              <a:t>為唯一付款方式</a:t>
            </a:r>
            <a:endParaRPr lang="zh-TW" altLang="en-US" dirty="0"/>
          </a:p>
        </p:txBody>
      </p:sp>
      <p:sp>
        <p:nvSpPr>
          <p:cNvPr id="58" name="箭號: 向下 57">
            <a:extLst>
              <a:ext uri="{FF2B5EF4-FFF2-40B4-BE49-F238E27FC236}">
                <a16:creationId xmlns:a16="http://schemas.microsoft.com/office/drawing/2014/main" id="{35A65F97-CB94-269A-D538-F56DECA5E0D3}"/>
              </a:ext>
            </a:extLst>
          </p:cNvPr>
          <p:cNvSpPr/>
          <p:nvPr/>
        </p:nvSpPr>
        <p:spPr>
          <a:xfrm rot="5400000">
            <a:off x="904817" y="3669972"/>
            <a:ext cx="581733" cy="738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665A4E0-807F-FF3E-B867-8A84A0611E60}"/>
              </a:ext>
            </a:extLst>
          </p:cNvPr>
          <p:cNvSpPr txBox="1"/>
          <p:nvPr/>
        </p:nvSpPr>
        <p:spPr>
          <a:xfrm>
            <a:off x="105628" y="3551583"/>
            <a:ext cx="738664" cy="26305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dirty="0"/>
              <a:t>儲值後關閉彈窗，</a:t>
            </a:r>
            <a:endParaRPr lang="en-US" altLang="zh-TW" dirty="0"/>
          </a:p>
          <a:p>
            <a:r>
              <a:rPr lang="zh-TW" altLang="en-US" dirty="0"/>
              <a:t>回到先前所在畫面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7732D77-E24F-7039-F927-46C81E920755}"/>
              </a:ext>
            </a:extLst>
          </p:cNvPr>
          <p:cNvSpPr txBox="1"/>
          <p:nvPr/>
        </p:nvSpPr>
        <p:spPr>
          <a:xfrm>
            <a:off x="3504890" y="1789940"/>
            <a:ext cx="279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保存網站狀態並開啟彈窗，</a:t>
            </a:r>
            <a:endParaRPr lang="en-US" altLang="zh-TW" sz="1400" dirty="0"/>
          </a:p>
          <a:p>
            <a:r>
              <a:rPr lang="zh-TW" altLang="en-US" sz="1400" dirty="0"/>
              <a:t>如已上傳的論文，選擇的規格等</a:t>
            </a:r>
            <a:endParaRPr lang="zh-TW" altLang="en-US" dirty="0"/>
          </a:p>
        </p:txBody>
      </p:sp>
      <p:sp>
        <p:nvSpPr>
          <p:cNvPr id="65" name="圖形 63" descr="游標 外框">
            <a:extLst>
              <a:ext uri="{FF2B5EF4-FFF2-40B4-BE49-F238E27FC236}">
                <a16:creationId xmlns:a16="http://schemas.microsoft.com/office/drawing/2014/main" id="{8C418649-DBA3-2E71-221E-A842472DE7D2}"/>
              </a:ext>
            </a:extLst>
          </p:cNvPr>
          <p:cNvSpPr/>
          <p:nvPr/>
        </p:nvSpPr>
        <p:spPr>
          <a:xfrm>
            <a:off x="2194379" y="2492111"/>
            <a:ext cx="270525" cy="244463"/>
          </a:xfrm>
          <a:custGeom>
            <a:avLst/>
            <a:gdLst>
              <a:gd name="csX0" fmla="*/ 20664 w 533051"/>
              <a:gd name="csY0" fmla="*/ 20622 h 533552"/>
              <a:gd name="csX1" fmla="*/ 497257 w 533051"/>
              <a:gd name="csY1" fmla="*/ 179546 h 533552"/>
              <a:gd name="csX2" fmla="*/ 497318 w 533051"/>
              <a:gd name="csY2" fmla="*/ 179666 h 533552"/>
              <a:gd name="csX3" fmla="*/ 497257 w 533051"/>
              <a:gd name="csY3" fmla="*/ 179727 h 533552"/>
              <a:gd name="csX4" fmla="*/ 334179 w 533051"/>
              <a:gd name="csY4" fmla="*/ 238468 h 533552"/>
              <a:gd name="csX5" fmla="*/ 305937 w 533051"/>
              <a:gd name="csY5" fmla="*/ 248603 h 533552"/>
              <a:gd name="csX6" fmla="*/ 327169 w 533051"/>
              <a:gd name="csY6" fmla="*/ 269824 h 533552"/>
              <a:gd name="csX7" fmla="*/ 506105 w 533051"/>
              <a:gd name="csY7" fmla="*/ 448751 h 533552"/>
              <a:gd name="csX8" fmla="*/ 448184 w 533051"/>
              <a:gd name="csY8" fmla="*/ 506616 h 533552"/>
              <a:gd name="csX9" fmla="*/ 269428 w 533051"/>
              <a:gd name="csY9" fmla="*/ 327812 h 533552"/>
              <a:gd name="csX10" fmla="*/ 248254 w 533051"/>
              <a:gd name="csY10" fmla="*/ 306591 h 533552"/>
              <a:gd name="csX11" fmla="*/ 238081 w 533051"/>
              <a:gd name="csY11" fmla="*/ 334823 h 533552"/>
              <a:gd name="csX12" fmla="*/ 179274 w 533051"/>
              <a:gd name="csY12" fmla="*/ 497967 h 533552"/>
              <a:gd name="csX13" fmla="*/ 179154 w 533051"/>
              <a:gd name="csY13" fmla="*/ 498028 h 533552"/>
              <a:gd name="csX14" fmla="*/ 179093 w 533051"/>
              <a:gd name="csY14" fmla="*/ 497967 h 533552"/>
              <a:gd name="csX15" fmla="*/ 20549 w 533051"/>
              <a:gd name="csY15" fmla="*/ 20765 h 533552"/>
              <a:gd name="csX16" fmla="*/ 20535 w 533051"/>
              <a:gd name="csY16" fmla="*/ 20636 h 533552"/>
              <a:gd name="csX17" fmla="*/ 20664 w 533051"/>
              <a:gd name="csY17" fmla="*/ 20622 h 533552"/>
              <a:gd name="csX18" fmla="*/ 16282 w 533051"/>
              <a:gd name="csY18" fmla="*/ 0 h 533552"/>
              <a:gd name="csX19" fmla="*/ 16196 w 533051"/>
              <a:gd name="csY19" fmla="*/ 0 h 533552"/>
              <a:gd name="csX20" fmla="*/ 4 w 533051"/>
              <a:gd name="csY20" fmla="*/ 16926 h 533552"/>
              <a:gd name="csX21" fmla="*/ 880 w 533051"/>
              <a:gd name="csY21" fmla="*/ 21917 h 533552"/>
              <a:gd name="csX22" fmla="*/ 163367 w 533051"/>
              <a:gd name="csY22" fmla="*/ 511064 h 533552"/>
              <a:gd name="csX23" fmla="*/ 184637 w 533051"/>
              <a:gd name="csY23" fmla="*/ 521226 h 533552"/>
              <a:gd name="csX24" fmla="*/ 194800 w 533051"/>
              <a:gd name="csY24" fmla="*/ 511064 h 533552"/>
              <a:gd name="csX25" fmla="*/ 255960 w 533051"/>
              <a:gd name="csY25" fmla="*/ 341281 h 533552"/>
              <a:gd name="csX26" fmla="*/ 448184 w 533051"/>
              <a:gd name="csY26" fmla="*/ 533552 h 533552"/>
              <a:gd name="csX27" fmla="*/ 533052 w 533051"/>
              <a:gd name="csY27" fmla="*/ 448780 h 533552"/>
              <a:gd name="csX28" fmla="*/ 340647 w 533051"/>
              <a:gd name="csY28" fmla="*/ 256375 h 533552"/>
              <a:gd name="csX29" fmla="*/ 510191 w 533051"/>
              <a:gd name="csY29" fmla="*/ 195310 h 533552"/>
              <a:gd name="csX30" fmla="*/ 520527 w 533051"/>
              <a:gd name="csY30" fmla="*/ 174108 h 533552"/>
              <a:gd name="csX31" fmla="*/ 510191 w 533051"/>
              <a:gd name="csY31" fmla="*/ 163773 h 533552"/>
              <a:gd name="csX32" fmla="*/ 21626 w 533051"/>
              <a:gd name="csY32" fmla="*/ 857 h 533552"/>
              <a:gd name="csX33" fmla="*/ 16282 w 533051"/>
              <a:gd name="csY33" fmla="*/ 0 h 533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533051" h="533552">
                <a:moveTo>
                  <a:pt x="20664" y="20622"/>
                </a:moveTo>
                <a:lnTo>
                  <a:pt x="497257" y="179546"/>
                </a:lnTo>
                <a:cubicBezTo>
                  <a:pt x="497306" y="179562"/>
                  <a:pt x="497334" y="179617"/>
                  <a:pt x="497318" y="179666"/>
                </a:cubicBezTo>
                <a:cubicBezTo>
                  <a:pt x="497308" y="179695"/>
                  <a:pt x="497285" y="179718"/>
                  <a:pt x="497257" y="179727"/>
                </a:cubicBezTo>
                <a:lnTo>
                  <a:pt x="334179" y="238468"/>
                </a:lnTo>
                <a:lnTo>
                  <a:pt x="305937" y="248603"/>
                </a:lnTo>
                <a:lnTo>
                  <a:pt x="327169" y="269824"/>
                </a:lnTo>
                <a:lnTo>
                  <a:pt x="506105" y="448751"/>
                </a:lnTo>
                <a:lnTo>
                  <a:pt x="448184" y="506616"/>
                </a:lnTo>
                <a:lnTo>
                  <a:pt x="269428" y="327812"/>
                </a:lnTo>
                <a:lnTo>
                  <a:pt x="248254" y="306591"/>
                </a:lnTo>
                <a:lnTo>
                  <a:pt x="238081" y="334823"/>
                </a:lnTo>
                <a:lnTo>
                  <a:pt x="179274" y="497967"/>
                </a:lnTo>
                <a:cubicBezTo>
                  <a:pt x="179258" y="498017"/>
                  <a:pt x="179203" y="498044"/>
                  <a:pt x="179154" y="498028"/>
                </a:cubicBezTo>
                <a:cubicBezTo>
                  <a:pt x="179125" y="498018"/>
                  <a:pt x="179103" y="497996"/>
                  <a:pt x="179093" y="497967"/>
                </a:cubicBezTo>
                <a:lnTo>
                  <a:pt x="20549" y="20765"/>
                </a:lnTo>
                <a:cubicBezTo>
                  <a:pt x="20510" y="20733"/>
                  <a:pt x="20504" y="20675"/>
                  <a:pt x="20535" y="20636"/>
                </a:cubicBezTo>
                <a:cubicBezTo>
                  <a:pt x="20567" y="20597"/>
                  <a:pt x="20625" y="20590"/>
                  <a:pt x="20664" y="20622"/>
                </a:cubicBezTo>
                <a:close/>
                <a:moveTo>
                  <a:pt x="16282" y="0"/>
                </a:moveTo>
                <a:lnTo>
                  <a:pt x="16196" y="0"/>
                </a:lnTo>
                <a:cubicBezTo>
                  <a:pt x="7053" y="209"/>
                  <a:pt x="-193" y="7783"/>
                  <a:pt x="4" y="16926"/>
                </a:cubicBezTo>
                <a:cubicBezTo>
                  <a:pt x="41" y="18624"/>
                  <a:pt x="337" y="20307"/>
                  <a:pt x="880" y="21917"/>
                </a:cubicBezTo>
                <a:lnTo>
                  <a:pt x="163367" y="511064"/>
                </a:lnTo>
                <a:cubicBezTo>
                  <a:pt x="166434" y="519744"/>
                  <a:pt x="175957" y="524293"/>
                  <a:pt x="184637" y="521226"/>
                </a:cubicBezTo>
                <a:cubicBezTo>
                  <a:pt x="189387" y="519548"/>
                  <a:pt x="193121" y="515813"/>
                  <a:pt x="194800" y="511064"/>
                </a:cubicBezTo>
                <a:lnTo>
                  <a:pt x="255960" y="341281"/>
                </a:lnTo>
                <a:lnTo>
                  <a:pt x="448184" y="533552"/>
                </a:lnTo>
                <a:lnTo>
                  <a:pt x="533052" y="448780"/>
                </a:lnTo>
                <a:lnTo>
                  <a:pt x="340647" y="256375"/>
                </a:lnTo>
                <a:lnTo>
                  <a:pt x="510191" y="195310"/>
                </a:lnTo>
                <a:cubicBezTo>
                  <a:pt x="518900" y="192310"/>
                  <a:pt x="523527" y="182817"/>
                  <a:pt x="520527" y="174108"/>
                </a:cubicBezTo>
                <a:cubicBezTo>
                  <a:pt x="518855" y="169256"/>
                  <a:pt x="515044" y="165444"/>
                  <a:pt x="510191" y="163773"/>
                </a:cubicBezTo>
                <a:lnTo>
                  <a:pt x="21626" y="857"/>
                </a:lnTo>
                <a:cubicBezTo>
                  <a:pt x="19902" y="288"/>
                  <a:pt x="18098" y="-2"/>
                  <a:pt x="16282" y="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箭號: 向下 49">
            <a:extLst>
              <a:ext uri="{FF2B5EF4-FFF2-40B4-BE49-F238E27FC236}">
                <a16:creationId xmlns:a16="http://schemas.microsoft.com/office/drawing/2014/main" id="{BB7BD4DA-9E10-8EB7-2956-2C9D28040538}"/>
              </a:ext>
            </a:extLst>
          </p:cNvPr>
          <p:cNvSpPr/>
          <p:nvPr/>
        </p:nvSpPr>
        <p:spPr>
          <a:xfrm rot="5400000">
            <a:off x="4853481" y="4430947"/>
            <a:ext cx="581733" cy="245666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B5DD5A0D-B8BB-D528-75B7-DAE0891979BC}"/>
              </a:ext>
            </a:extLst>
          </p:cNvPr>
          <p:cNvSpPr txBox="1"/>
          <p:nvPr/>
        </p:nvSpPr>
        <p:spPr>
          <a:xfrm>
            <a:off x="10237470" y="401310"/>
            <a:ext cx="1954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accent1"/>
                </a:solidFill>
              </a:rPr>
              <a:t>關閉彈窗，</a:t>
            </a:r>
            <a:endParaRPr lang="en-US" altLang="zh-TW" sz="1600" dirty="0">
              <a:solidFill>
                <a:schemeClr val="accent1"/>
              </a:solidFill>
            </a:endParaRPr>
          </a:p>
          <a:p>
            <a:r>
              <a:rPr lang="zh-TW" altLang="en-US" sz="1600" dirty="0">
                <a:solidFill>
                  <a:schemeClr val="accent1"/>
                </a:solidFill>
              </a:rPr>
              <a:t>回到先前所在畫面</a:t>
            </a: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2A0D8D49-AC3E-1BF9-9FAF-71E6E9E51B13}"/>
              </a:ext>
            </a:extLst>
          </p:cNvPr>
          <p:cNvSpPr/>
          <p:nvPr/>
        </p:nvSpPr>
        <p:spPr>
          <a:xfrm>
            <a:off x="9697784" y="273427"/>
            <a:ext cx="371061" cy="33192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86988325-477B-AC22-1ABE-8FD8EDD809EF}"/>
              </a:ext>
            </a:extLst>
          </p:cNvPr>
          <p:cNvSpPr/>
          <p:nvPr/>
        </p:nvSpPr>
        <p:spPr>
          <a:xfrm>
            <a:off x="9542724" y="3206011"/>
            <a:ext cx="505649" cy="33192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144DF5E-7D03-F67E-7B23-F943BFF2F4FE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9998323" y="3002543"/>
            <a:ext cx="607353" cy="24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A04A138-E407-E88D-2D8C-03319C13D2DF}"/>
              </a:ext>
            </a:extLst>
          </p:cNvPr>
          <p:cNvSpPr txBox="1"/>
          <p:nvPr/>
        </p:nvSpPr>
        <p:spPr>
          <a:xfrm>
            <a:off x="10605676" y="2740933"/>
            <a:ext cx="976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4</a:t>
            </a:r>
            <a:r>
              <a:rPr lang="zh-TW" altLang="en-US" sz="1400" dirty="0"/>
              <a:t>點標註</a:t>
            </a:r>
            <a:endParaRPr lang="en-US" altLang="zh-TW" sz="1400" dirty="0"/>
          </a:p>
          <a:p>
            <a:r>
              <a:rPr lang="zh-TW" altLang="en-US" sz="1400" dirty="0"/>
              <a:t>加量優惠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961331-4502-C040-92D8-5D71FB95808B}"/>
              </a:ext>
            </a:extLst>
          </p:cNvPr>
          <p:cNvSpPr/>
          <p:nvPr/>
        </p:nvSpPr>
        <p:spPr>
          <a:xfrm>
            <a:off x="6694227" y="4215664"/>
            <a:ext cx="3304096" cy="38058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5C826EE-94E1-17B1-48BC-750400BA40E1}"/>
              </a:ext>
            </a:extLst>
          </p:cNvPr>
          <p:cNvCxnSpPr>
            <a:cxnSpLocks/>
          </p:cNvCxnSpPr>
          <p:nvPr/>
        </p:nvCxnSpPr>
        <p:spPr>
          <a:xfrm>
            <a:off x="9998322" y="4435507"/>
            <a:ext cx="5525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ED8669C-3BC4-4FCF-598A-24BA295AB7D3}"/>
              </a:ext>
            </a:extLst>
          </p:cNvPr>
          <p:cNvSpPr txBox="1"/>
          <p:nvPr/>
        </p:nvSpPr>
        <p:spPr>
          <a:xfrm>
            <a:off x="4120290" y="2714863"/>
            <a:ext cx="1510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說明文字</a:t>
            </a:r>
            <a:endParaRPr lang="en-US" altLang="zh-TW" sz="11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E83A91E-BA22-ABF6-AE1A-EE9874F2D0F6}"/>
              </a:ext>
            </a:extLst>
          </p:cNvPr>
          <p:cNvSpPr txBox="1"/>
          <p:nvPr/>
        </p:nvSpPr>
        <p:spPr>
          <a:xfrm>
            <a:off x="4147162" y="2976473"/>
            <a:ext cx="239471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100" dirty="0"/>
              <a:t>儲值點數</a:t>
            </a:r>
            <a:endParaRPr lang="en-US" altLang="zh-TW" sz="1100" dirty="0"/>
          </a:p>
          <a:p>
            <a:r>
              <a:rPr lang="en-US" altLang="zh-TW" sz="1100" dirty="0"/>
              <a:t>1</a:t>
            </a:r>
            <a:r>
              <a:rPr lang="zh-TW" altLang="en-US" sz="1100" dirty="0"/>
              <a:t>點</a:t>
            </a:r>
            <a:r>
              <a:rPr lang="en-US" altLang="zh-TW" sz="1100" dirty="0"/>
              <a:t>=NT$30</a:t>
            </a:r>
            <a:r>
              <a:rPr lang="zh-TW" altLang="en-US" sz="1100" dirty="0"/>
              <a:t>，簡易模式消耗 </a:t>
            </a:r>
            <a:r>
              <a:rPr lang="en-US" altLang="zh-TW" sz="1100" dirty="0"/>
              <a:t>1</a:t>
            </a:r>
            <a:r>
              <a:rPr lang="zh-TW" altLang="en-US" sz="1100" dirty="0"/>
              <a:t> 點，一般模式消耗 </a:t>
            </a:r>
            <a:r>
              <a:rPr lang="en-US" altLang="zh-TW" sz="1100" dirty="0"/>
              <a:t>2</a:t>
            </a:r>
            <a:r>
              <a:rPr lang="zh-TW" altLang="en-US" sz="1100" dirty="0"/>
              <a:t> 點</a:t>
            </a:r>
            <a:endParaRPr lang="en-US" altLang="zh-TW" sz="1100" dirty="0"/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B3585B13-8592-0DBF-56C3-EF4A5FDA0531}"/>
              </a:ext>
            </a:extLst>
          </p:cNvPr>
          <p:cNvCxnSpPr>
            <a:cxnSpLocks/>
          </p:cNvCxnSpPr>
          <p:nvPr/>
        </p:nvCxnSpPr>
        <p:spPr>
          <a:xfrm flipH="1">
            <a:off x="5344520" y="2986532"/>
            <a:ext cx="1349707" cy="138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CDD06898-7E45-7E78-63A0-1F4D8BD22875}"/>
              </a:ext>
            </a:extLst>
          </p:cNvPr>
          <p:cNvCxnSpPr>
            <a:cxnSpLocks/>
          </p:cNvCxnSpPr>
          <p:nvPr/>
        </p:nvCxnSpPr>
        <p:spPr>
          <a:xfrm flipH="1">
            <a:off x="6202907" y="4089338"/>
            <a:ext cx="623375" cy="40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779727F-4AED-25E5-F878-DDA74BCA8BDA}"/>
              </a:ext>
            </a:extLst>
          </p:cNvPr>
          <p:cNvSpPr txBox="1"/>
          <p:nvPr/>
        </p:nvSpPr>
        <p:spPr>
          <a:xfrm>
            <a:off x="4181918" y="3939382"/>
            <a:ext cx="2070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加量優惠：</a:t>
            </a:r>
            <a:r>
              <a:rPr lang="en-US" altLang="zh-TW" sz="1000" dirty="0"/>
              <a:t>NT$ 100 </a:t>
            </a:r>
            <a:r>
              <a:rPr lang="zh-TW" altLang="en-US" sz="1000" dirty="0"/>
              <a:t>獲得 </a:t>
            </a:r>
            <a:r>
              <a:rPr lang="en-US" altLang="zh-TW" sz="1000" dirty="0"/>
              <a:t>4 </a:t>
            </a:r>
            <a:r>
              <a:rPr lang="zh-TW" altLang="en-US" sz="1000" dirty="0"/>
              <a:t>點，等同每點 </a:t>
            </a:r>
            <a:r>
              <a:rPr lang="en-US" altLang="zh-TW" sz="1000" dirty="0"/>
              <a:t>NT$ 25</a:t>
            </a:r>
            <a:r>
              <a:rPr lang="zh-TW" altLang="en-US" sz="1000" dirty="0"/>
              <a:t>，省下 </a:t>
            </a:r>
            <a:r>
              <a:rPr lang="en-US" altLang="zh-TW" sz="1000" dirty="0"/>
              <a:t>NT$ 20</a:t>
            </a:r>
            <a:r>
              <a:rPr lang="zh-TW" altLang="en-US" sz="1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4557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BEE0-C589-87D3-4D53-A04F4542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D84BB-62E1-EA02-1322-357FE547B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20" y="127206"/>
            <a:ext cx="5901657" cy="728179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帳號區塊</a:t>
            </a:r>
            <a:r>
              <a:rPr lang="en-US" altLang="zh-TW" dirty="0"/>
              <a:t>(</a:t>
            </a:r>
            <a:r>
              <a:rPr lang="zh-TW" altLang="en-US" dirty="0"/>
              <a:t>點數使用紀錄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E6DF55D-511A-166D-B47E-2257564DF9B1}"/>
              </a:ext>
            </a:extLst>
          </p:cNvPr>
          <p:cNvSpPr txBox="1">
            <a:spLocks/>
          </p:cNvSpPr>
          <p:nvPr/>
        </p:nvSpPr>
        <p:spPr>
          <a:xfrm>
            <a:off x="468953" y="796721"/>
            <a:ext cx="3124200" cy="3198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儲值區塊下方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5F09EB-8BF8-C892-98A0-C5F20D2063F6}"/>
              </a:ext>
            </a:extLst>
          </p:cNvPr>
          <p:cNvSpPr txBox="1"/>
          <p:nvPr/>
        </p:nvSpPr>
        <p:spPr>
          <a:xfrm>
            <a:off x="5789134" y="4879075"/>
            <a:ext cx="19302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紀錄點數變更的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原因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時間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數量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CB39E4-400E-C2D3-3EB3-A0A89E960E84}"/>
              </a:ext>
            </a:extLst>
          </p:cNvPr>
          <p:cNvSpPr txBox="1"/>
          <p:nvPr/>
        </p:nvSpPr>
        <p:spPr>
          <a:xfrm>
            <a:off x="5738191" y="6163916"/>
            <a:ext cx="198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en-US" sz="1200" dirty="0"/>
              <a:t>本區使用 </a:t>
            </a:r>
            <a:r>
              <a:rPr lang="en-US" altLang="zh-TW" sz="1200" dirty="0"/>
              <a:t>scroll bar</a:t>
            </a:r>
            <a:r>
              <a:rPr lang="zh-TW" altLang="en-US" sz="1200" dirty="0"/>
              <a:t> 顯示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FD12A87-603C-FEFD-0D8A-7BF0F529F770}"/>
              </a:ext>
            </a:extLst>
          </p:cNvPr>
          <p:cNvSpPr txBox="1"/>
          <p:nvPr/>
        </p:nvSpPr>
        <p:spPr>
          <a:xfrm>
            <a:off x="10274473" y="654903"/>
            <a:ext cx="147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＋點數 用綠色</a:t>
            </a:r>
            <a:endParaRPr lang="en-US" altLang="zh-TW" sz="1200" dirty="0"/>
          </a:p>
          <a:p>
            <a:r>
              <a:rPr lang="zh-TW" altLang="en-US" sz="1200" dirty="0"/>
              <a:t>－點數 用紅色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6C35153-9D98-228A-69A2-99C96E0DB590}"/>
              </a:ext>
            </a:extLst>
          </p:cNvPr>
          <p:cNvSpPr txBox="1"/>
          <p:nvPr/>
        </p:nvSpPr>
        <p:spPr>
          <a:xfrm>
            <a:off x="6276667" y="839186"/>
            <a:ext cx="3143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1800" dirty="0"/>
              <a:t>文案：</a:t>
            </a:r>
            <a:endParaRPr lang="en-US" altLang="zh-TW" sz="1800" dirty="0"/>
          </a:p>
          <a:p>
            <a:r>
              <a:rPr lang="zh-TW" altLang="en-US" sz="1800" dirty="0"/>
              <a:t>分析生成提案／</a:t>
            </a:r>
            <a:r>
              <a:rPr lang="en-US" altLang="zh-TW" dirty="0" err="1"/>
              <a:t>Linepay</a:t>
            </a:r>
            <a:r>
              <a:rPr lang="zh-TW" altLang="en-US" dirty="0"/>
              <a:t> 儲值</a:t>
            </a:r>
            <a:endParaRPr lang="en-US" altLang="zh-TW" dirty="0"/>
          </a:p>
          <a:p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日期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(YYYY-MM-DD </a:t>
            </a:r>
            <a:r>
              <a:rPr lang="en-US" altLang="zh-TW" dirty="0" err="1">
                <a:solidFill>
                  <a:schemeClr val="bg2">
                    <a:lumMod val="50000"/>
                  </a:schemeClr>
                </a:solidFill>
              </a:rPr>
              <a:t>hh:mm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2839183-D099-97A6-4A0A-F8180621A11B}"/>
              </a:ext>
            </a:extLst>
          </p:cNvPr>
          <p:cNvSpPr txBox="1"/>
          <p:nvPr/>
        </p:nvSpPr>
        <p:spPr>
          <a:xfrm>
            <a:off x="9685784" y="1522287"/>
            <a:ext cx="1328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點數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變動數</a:t>
            </a: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78359855-B0AC-0A84-E1B4-85B8EC93EB9D}"/>
              </a:ext>
            </a:extLst>
          </p:cNvPr>
          <p:cNvGrpSpPr/>
          <p:nvPr/>
        </p:nvGrpSpPr>
        <p:grpSpPr>
          <a:xfrm>
            <a:off x="6276667" y="2461390"/>
            <a:ext cx="3882887" cy="1935220"/>
            <a:chOff x="6221896" y="2129119"/>
            <a:chExt cx="3882887" cy="1935220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EF7832D-D737-21FB-C8B2-093A77A85636}"/>
                </a:ext>
              </a:extLst>
            </p:cNvPr>
            <p:cNvSpPr txBox="1"/>
            <p:nvPr/>
          </p:nvSpPr>
          <p:spPr>
            <a:xfrm>
              <a:off x="6453811" y="2518331"/>
              <a:ext cx="2068171" cy="6463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zh-TW" altLang="en-US" dirty="0"/>
                <a:t>分析生成提案</a:t>
              </a:r>
              <a:endParaRPr lang="en-US" altLang="zh-TW" dirty="0"/>
            </a:p>
            <a:p>
              <a:r>
                <a:rPr lang="en-US" altLang="zh-TW" dirty="0">
                  <a:solidFill>
                    <a:schemeClr val="bg2">
                      <a:lumMod val="50000"/>
                    </a:schemeClr>
                  </a:solidFill>
                </a:rPr>
                <a:t>2026-07-15</a:t>
              </a:r>
              <a:r>
                <a:rPr lang="zh-TW" altLang="en-US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chemeClr val="bg2">
                      <a:lumMod val="50000"/>
                    </a:schemeClr>
                  </a:solidFill>
                </a:rPr>
                <a:t>15:20</a:t>
              </a:r>
              <a:endParaRPr lang="zh-TW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8D700AA7-3059-9BA2-870D-960C1D5D51F1}"/>
                </a:ext>
              </a:extLst>
            </p:cNvPr>
            <p:cNvSpPr txBox="1"/>
            <p:nvPr/>
          </p:nvSpPr>
          <p:spPr>
            <a:xfrm>
              <a:off x="8859912" y="2645464"/>
              <a:ext cx="921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-2</a:t>
              </a:r>
              <a:r>
                <a:rPr lang="zh-TW" altLang="en-US" dirty="0">
                  <a:solidFill>
                    <a:srgbClr val="FF0000"/>
                  </a:solidFill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Pts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BE8CF08-75E1-42F1-C0E5-6B6722309D59}"/>
                </a:ext>
              </a:extLst>
            </p:cNvPr>
            <p:cNvSpPr txBox="1"/>
            <p:nvPr/>
          </p:nvSpPr>
          <p:spPr>
            <a:xfrm>
              <a:off x="6453810" y="3392974"/>
              <a:ext cx="20681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 err="1"/>
                <a:t>Linepay</a:t>
              </a:r>
              <a:r>
                <a:rPr lang="zh-TW" altLang="en-US" dirty="0"/>
                <a:t> 儲值</a:t>
              </a:r>
              <a:endParaRPr lang="en-US" altLang="zh-TW" dirty="0"/>
            </a:p>
            <a:p>
              <a:r>
                <a:rPr lang="en-US" altLang="zh-TW" dirty="0">
                  <a:solidFill>
                    <a:schemeClr val="bg2">
                      <a:lumMod val="50000"/>
                    </a:schemeClr>
                  </a:solidFill>
                </a:rPr>
                <a:t>2026-07-15</a:t>
              </a:r>
              <a:r>
                <a:rPr lang="zh-TW" altLang="en-US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chemeClr val="bg2">
                      <a:lumMod val="50000"/>
                    </a:schemeClr>
                  </a:solidFill>
                </a:rPr>
                <a:t>15:20</a:t>
              </a:r>
              <a:endParaRPr lang="zh-TW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34C957E9-9EEF-E04F-FD9F-872C2A49F79B}"/>
                </a:ext>
              </a:extLst>
            </p:cNvPr>
            <p:cNvSpPr txBox="1"/>
            <p:nvPr/>
          </p:nvSpPr>
          <p:spPr>
            <a:xfrm>
              <a:off x="8859912" y="3531473"/>
              <a:ext cx="921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6">
                      <a:lumMod val="75000"/>
                    </a:schemeClr>
                  </a:solidFill>
                </a:rPr>
                <a:t>+4</a:t>
              </a:r>
              <a:r>
                <a:rPr lang="zh-TW" altLang="en-US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chemeClr val="accent6">
                      <a:lumMod val="75000"/>
                    </a:schemeClr>
                  </a:solidFill>
                </a:rPr>
                <a:t>Pts</a:t>
              </a:r>
              <a:endParaRPr lang="zh-TW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89B97B4-795D-3902-ACFF-6EC1D3EACDC2}"/>
                </a:ext>
              </a:extLst>
            </p:cNvPr>
            <p:cNvSpPr/>
            <p:nvPr/>
          </p:nvSpPr>
          <p:spPr>
            <a:xfrm>
              <a:off x="6300577" y="2445026"/>
              <a:ext cx="3804206" cy="8094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1BDCA4B-0654-541C-A438-7830428C7353}"/>
                </a:ext>
              </a:extLst>
            </p:cNvPr>
            <p:cNvSpPr/>
            <p:nvPr/>
          </p:nvSpPr>
          <p:spPr>
            <a:xfrm>
              <a:off x="6300577" y="3254891"/>
              <a:ext cx="3804206" cy="8094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42539B1-31BA-FBFE-A9C8-59AF41841467}"/>
                </a:ext>
              </a:extLst>
            </p:cNvPr>
            <p:cNvSpPr txBox="1"/>
            <p:nvPr/>
          </p:nvSpPr>
          <p:spPr>
            <a:xfrm>
              <a:off x="6221896" y="2129119"/>
              <a:ext cx="10120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  Ex: 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C31B4B8A-BB09-961B-5DB0-3F080A6561C3}"/>
              </a:ext>
            </a:extLst>
          </p:cNvPr>
          <p:cNvCxnSpPr>
            <a:cxnSpLocks/>
          </p:cNvCxnSpPr>
          <p:nvPr/>
        </p:nvCxnSpPr>
        <p:spPr>
          <a:xfrm flipV="1">
            <a:off x="10217527" y="1116568"/>
            <a:ext cx="311325" cy="450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5C922C4-3A53-7A94-5B28-B1756D2B2345}"/>
              </a:ext>
            </a:extLst>
          </p:cNvPr>
          <p:cNvSpPr/>
          <p:nvPr/>
        </p:nvSpPr>
        <p:spPr>
          <a:xfrm>
            <a:off x="6300576" y="1384349"/>
            <a:ext cx="4791493" cy="6549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230F27-2201-D48A-4CFD-C8DA4C79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7" y="1116568"/>
            <a:ext cx="3228329" cy="556570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934846-68DD-D512-3F1A-F889378325CA}"/>
              </a:ext>
            </a:extLst>
          </p:cNvPr>
          <p:cNvSpPr/>
          <p:nvPr/>
        </p:nvSpPr>
        <p:spPr>
          <a:xfrm>
            <a:off x="2251881" y="1116568"/>
            <a:ext cx="3227171" cy="3762507"/>
          </a:xfrm>
          <a:prstGeom prst="rect">
            <a:avLst/>
          </a:prstGeom>
          <a:solidFill>
            <a:schemeClr val="bg2">
              <a:lumMod val="2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CA0203-5D34-70A4-EF64-E5CB57D9223E}"/>
              </a:ext>
            </a:extLst>
          </p:cNvPr>
          <p:cNvSpPr/>
          <p:nvPr/>
        </p:nvSpPr>
        <p:spPr>
          <a:xfrm>
            <a:off x="2426940" y="4879076"/>
            <a:ext cx="2901331" cy="1652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0DC5005-D6EA-E4CC-2D27-7C16D7B9475E}"/>
              </a:ext>
            </a:extLst>
          </p:cNvPr>
          <p:cNvSpPr txBox="1"/>
          <p:nvPr/>
        </p:nvSpPr>
        <p:spPr>
          <a:xfrm>
            <a:off x="5744924" y="1427951"/>
            <a:ext cx="509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/>
              <a:t>原因</a:t>
            </a:r>
            <a:endParaRPr lang="en-US" altLang="zh-TW" sz="12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EE827AD-F985-4A00-F2E5-0A57F1CFBB62}"/>
              </a:ext>
            </a:extLst>
          </p:cNvPr>
          <p:cNvSpPr txBox="1"/>
          <p:nvPr/>
        </p:nvSpPr>
        <p:spPr>
          <a:xfrm>
            <a:off x="5754798" y="1743619"/>
            <a:ext cx="566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/>
              <a:t>時間</a:t>
            </a:r>
            <a:endParaRPr lang="en-US" altLang="zh-TW" sz="1200" b="1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18F3593-4864-0BED-1173-9CA2678727DA}"/>
              </a:ext>
            </a:extLst>
          </p:cNvPr>
          <p:cNvSpPr txBox="1"/>
          <p:nvPr/>
        </p:nvSpPr>
        <p:spPr>
          <a:xfrm>
            <a:off x="11115978" y="1614619"/>
            <a:ext cx="5457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/>
              <a:t>數量</a:t>
            </a:r>
          </a:p>
        </p:txBody>
      </p:sp>
    </p:spTree>
    <p:extLst>
      <p:ext uri="{BB962C8B-B14F-4D97-AF65-F5344CB8AC3E}">
        <p14:creationId xmlns:p14="http://schemas.microsoft.com/office/powerpoint/2010/main" val="258895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E0E69-5400-BCE7-E0DF-22FFB9EB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9" y="191697"/>
            <a:ext cx="6415411" cy="791283"/>
          </a:xfrm>
        </p:spPr>
        <p:txBody>
          <a:bodyPr>
            <a:normAutofit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 上傳論文頁－登入前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B372DD-EE64-CD6F-C49F-BADD88391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757" y="1303020"/>
            <a:ext cx="9558163" cy="42519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CBBA400-F16C-D455-DE7F-40443831DA74}"/>
              </a:ext>
            </a:extLst>
          </p:cNvPr>
          <p:cNvCxnSpPr>
            <a:cxnSpLocks/>
          </p:cNvCxnSpPr>
          <p:nvPr/>
        </p:nvCxnSpPr>
        <p:spPr>
          <a:xfrm flipH="1">
            <a:off x="2786237" y="2606040"/>
            <a:ext cx="261763" cy="13868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61AD2E-B2DE-D7CA-6402-1556FBA05E7A}"/>
              </a:ext>
            </a:extLst>
          </p:cNvPr>
          <p:cNvSpPr txBox="1"/>
          <p:nvPr/>
        </p:nvSpPr>
        <p:spPr>
          <a:xfrm>
            <a:off x="147105" y="5945697"/>
            <a:ext cx="4630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未登入時，點擊 </a:t>
            </a:r>
            <a:r>
              <a:rPr lang="en-US" altLang="zh-TW" sz="1400" dirty="0"/>
              <a:t>[</a:t>
            </a:r>
            <a:r>
              <a:rPr lang="zh-TW" altLang="en-US" sz="1400" dirty="0"/>
              <a:t>登入</a:t>
            </a:r>
            <a:r>
              <a:rPr lang="en-US" altLang="zh-TW" sz="1400" dirty="0"/>
              <a:t>/</a:t>
            </a:r>
            <a:r>
              <a:rPr lang="zh-TW" altLang="en-US" sz="1400" dirty="0"/>
              <a:t>註冊帳號</a:t>
            </a:r>
            <a:r>
              <a:rPr lang="en-US" altLang="zh-TW" sz="1400" dirty="0"/>
              <a:t>]</a:t>
            </a:r>
            <a:r>
              <a:rPr lang="zh-TW" altLang="en-US" sz="1400" dirty="0"/>
              <a:t>、</a:t>
            </a:r>
            <a:r>
              <a:rPr lang="en-US" altLang="zh-TW" sz="1400" dirty="0"/>
              <a:t>[</a:t>
            </a:r>
            <a:r>
              <a:rPr lang="zh-TW" altLang="en-US" sz="1400" dirty="0"/>
              <a:t>論文上傳區塊</a:t>
            </a:r>
            <a:r>
              <a:rPr lang="en-US" altLang="zh-TW" sz="1400" dirty="0"/>
              <a:t>]</a:t>
            </a:r>
          </a:p>
          <a:p>
            <a:r>
              <a:rPr lang="zh-TW" altLang="en-US" sz="1400" dirty="0"/>
              <a:t>跳出 </a:t>
            </a:r>
            <a:r>
              <a:rPr lang="en-US" altLang="zh-TW" sz="1400" dirty="0"/>
              <a:t>google</a:t>
            </a:r>
            <a:r>
              <a:rPr lang="zh-TW" altLang="en-US" sz="1400" dirty="0"/>
              <a:t> 登入窗口</a:t>
            </a:r>
            <a:endParaRPr lang="en-US" altLang="zh-TW" sz="1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32BB4B3-6C5C-2715-7FBF-3C8DBC884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05" y="3954349"/>
            <a:ext cx="4067363" cy="1991348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03E66C7A-DC10-5812-BA15-5303ECF8797B}"/>
              </a:ext>
            </a:extLst>
          </p:cNvPr>
          <p:cNvCxnSpPr>
            <a:cxnSpLocks/>
          </p:cNvCxnSpPr>
          <p:nvPr/>
        </p:nvCxnSpPr>
        <p:spPr>
          <a:xfrm flipH="1">
            <a:off x="3963552" y="4347797"/>
            <a:ext cx="624840" cy="224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CD4D31C-6AED-0BE0-119F-5CCD6226991E}"/>
              </a:ext>
            </a:extLst>
          </p:cNvPr>
          <p:cNvSpPr/>
          <p:nvPr/>
        </p:nvSpPr>
        <p:spPr>
          <a:xfrm>
            <a:off x="4404360" y="3223260"/>
            <a:ext cx="5410200" cy="17145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DA42B82-6202-C62B-EE1B-05723573F922}"/>
              </a:ext>
            </a:extLst>
          </p:cNvPr>
          <p:cNvSpPr txBox="1"/>
          <p:nvPr/>
        </p:nvSpPr>
        <p:spPr>
          <a:xfrm>
            <a:off x="6510405" y="4937760"/>
            <a:ext cx="132525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論文上傳區塊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9A1F0F-493E-7D85-3F5A-BA25EE1D8EBC}"/>
              </a:ext>
            </a:extLst>
          </p:cNvPr>
          <p:cNvSpPr/>
          <p:nvPr/>
        </p:nvSpPr>
        <p:spPr>
          <a:xfrm>
            <a:off x="4404360" y="2804160"/>
            <a:ext cx="5343316" cy="3429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C4D0AE5-C573-2DD2-F711-96F36061A63F}"/>
              </a:ext>
            </a:extLst>
          </p:cNvPr>
          <p:cNvSpPr txBox="1"/>
          <p:nvPr/>
        </p:nvSpPr>
        <p:spPr>
          <a:xfrm>
            <a:off x="7173031" y="90911"/>
            <a:ext cx="470154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</a:rPr>
              <a:t>　請選擇學科領域</a:t>
            </a:r>
            <a:endParaRPr lang="en-US" altLang="zh-TW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（下拉選單，如下五個選項，沒選則視為選［其他］）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　護理學／圖書資訊學／政治學／教育學／其他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zh-TW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58823F4-D74A-B351-66C8-18759D5E6061}"/>
              </a:ext>
            </a:extLst>
          </p:cNvPr>
          <p:cNvCxnSpPr>
            <a:cxnSpLocks/>
          </p:cNvCxnSpPr>
          <p:nvPr/>
        </p:nvCxnSpPr>
        <p:spPr>
          <a:xfrm flipV="1">
            <a:off x="6406220" y="995243"/>
            <a:ext cx="766811" cy="179665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766F21D-53D5-FDDE-89A8-CC47CA6E7991}"/>
              </a:ext>
            </a:extLst>
          </p:cNvPr>
          <p:cNvSpPr txBox="1"/>
          <p:nvPr/>
        </p:nvSpPr>
        <p:spPr>
          <a:xfrm>
            <a:off x="45720" y="3685087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登入窗口</a:t>
            </a:r>
            <a:endParaRPr lang="en-US" altLang="zh-TW" sz="1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54848C-A99D-6644-53E3-6B30B44A2EDF}"/>
              </a:ext>
            </a:extLst>
          </p:cNvPr>
          <p:cNvSpPr/>
          <p:nvPr/>
        </p:nvSpPr>
        <p:spPr>
          <a:xfrm>
            <a:off x="4180484" y="1863090"/>
            <a:ext cx="5801715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DC6EF2A-F2A2-E3A2-25AF-EAC5048ECF9A}"/>
              </a:ext>
            </a:extLst>
          </p:cNvPr>
          <p:cNvSpPr txBox="1"/>
          <p:nvPr/>
        </p:nvSpPr>
        <p:spPr>
          <a:xfrm>
            <a:off x="9982198" y="1580569"/>
            <a:ext cx="2425845" cy="1300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步驟指示器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將目前所在步驟標示藍色，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已完成步驟標示綠色，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剩餘步驟維持灰色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3CDA0693-E523-BFF9-3E13-A9009B8F1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870" y="4164330"/>
            <a:ext cx="3621410" cy="2693670"/>
          </a:xfrm>
          <a:prstGeom prst="rect">
            <a:avLst/>
          </a:prstGeom>
        </p:spPr>
      </p:pic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800DB183-00F2-3554-98C4-094AC4DD7B5A}"/>
              </a:ext>
            </a:extLst>
          </p:cNvPr>
          <p:cNvCxnSpPr>
            <a:cxnSpLocks/>
          </p:cNvCxnSpPr>
          <p:nvPr/>
        </p:nvCxnSpPr>
        <p:spPr>
          <a:xfrm>
            <a:off x="3925452" y="5352051"/>
            <a:ext cx="4959468" cy="5936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7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94231EC-CB2A-314D-2A86-2153DFF59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80" y="1602928"/>
            <a:ext cx="8692287" cy="459018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509EBB34-6377-DABB-67F3-B4E17C71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9" y="412677"/>
            <a:ext cx="7253611" cy="791283"/>
          </a:xfrm>
        </p:spPr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 上傳論文頁－登入後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F8DD9D-619C-2F5F-4FF3-4D012CD6EE78}"/>
              </a:ext>
            </a:extLst>
          </p:cNvPr>
          <p:cNvSpPr txBox="1"/>
          <p:nvPr/>
        </p:nvSpPr>
        <p:spPr>
          <a:xfrm>
            <a:off x="640709" y="6146198"/>
            <a:ext cx="4045591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顯示歷史紀錄，點擊載入過去生成的結果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25F33A-33D2-E684-CAE6-E1C690FFD1F2}"/>
              </a:ext>
            </a:extLst>
          </p:cNvPr>
          <p:cNvSpPr/>
          <p:nvPr/>
        </p:nvSpPr>
        <p:spPr>
          <a:xfrm>
            <a:off x="846418" y="2945975"/>
            <a:ext cx="1874520" cy="324713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B23E4059-B9E7-0407-65FF-7B2B24978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820" y="815340"/>
            <a:ext cx="4756371" cy="147839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F33BC91-5F93-1CEE-905D-6EA0199CAF71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867400" y="1554536"/>
            <a:ext cx="1345420" cy="203448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7254A88-9E47-FF68-D1F2-FFCB5ACE5DDF}"/>
              </a:ext>
            </a:extLst>
          </p:cNvPr>
          <p:cNvSpPr txBox="1"/>
          <p:nvPr/>
        </p:nvSpPr>
        <p:spPr>
          <a:xfrm>
            <a:off x="7424555" y="27752"/>
            <a:ext cx="4980805" cy="787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論文上傳區塊</a:t>
            </a: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TW" altLang="zh-TW" sz="1600" dirty="0">
                <a:solidFill>
                  <a:schemeClr val="accent1">
                    <a:lumMod val="75000"/>
                  </a:schemeClr>
                </a:solidFill>
              </a:rPr>
              <a:t>加入 Hover 狀態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endParaRPr lang="en-US" altLang="zh-TW" sz="1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點擊 </a:t>
            </a: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論文上傳區塊</a:t>
            </a: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 打開檔案瀏覽器（只顯示</a:t>
            </a: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pdf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zh-TW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722A85-605E-B14E-1D2B-D62EA100E32B}"/>
              </a:ext>
            </a:extLst>
          </p:cNvPr>
          <p:cNvSpPr/>
          <p:nvPr/>
        </p:nvSpPr>
        <p:spPr>
          <a:xfrm>
            <a:off x="3430585" y="3743359"/>
            <a:ext cx="5713416" cy="161525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88EB3B36-E8A0-593D-A45B-3587CA6B1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819" y="2652403"/>
            <a:ext cx="4756371" cy="180414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5652D036-25A1-315D-F0DF-25C682951B14}"/>
              </a:ext>
            </a:extLst>
          </p:cNvPr>
          <p:cNvCxnSpPr>
            <a:cxnSpLocks/>
          </p:cNvCxnSpPr>
          <p:nvPr/>
        </p:nvCxnSpPr>
        <p:spPr>
          <a:xfrm>
            <a:off x="9591004" y="2103442"/>
            <a:ext cx="0" cy="74632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B0D5EF4-3123-C7E9-DC0C-C20D285AEC5E}"/>
              </a:ext>
            </a:extLst>
          </p:cNvPr>
          <p:cNvSpPr txBox="1"/>
          <p:nvPr/>
        </p:nvSpPr>
        <p:spPr>
          <a:xfrm>
            <a:off x="8341213" y="4232707"/>
            <a:ext cx="3611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2"/>
                </a:solidFill>
              </a:rPr>
              <a:t>上傳</a:t>
            </a:r>
            <a:r>
              <a:rPr lang="en-US" altLang="zh-TW" sz="1200" dirty="0">
                <a:solidFill>
                  <a:schemeClr val="accent2"/>
                </a:solidFill>
              </a:rPr>
              <a:t>pdf</a:t>
            </a:r>
            <a:r>
              <a:rPr lang="zh-TW" altLang="en-US" sz="1200" dirty="0">
                <a:solidFill>
                  <a:schemeClr val="accent2"/>
                </a:solidFill>
              </a:rPr>
              <a:t>後顯示上傳的檔名，點擊</a:t>
            </a:r>
            <a:r>
              <a:rPr lang="en-US" altLang="zh-TW" sz="1200" dirty="0">
                <a:solidFill>
                  <a:schemeClr val="accent2"/>
                </a:solidFill>
              </a:rPr>
              <a:t>[</a:t>
            </a:r>
            <a:r>
              <a:rPr lang="zh-TW" altLang="en-US" sz="1200" dirty="0">
                <a:solidFill>
                  <a:schemeClr val="accent2"/>
                </a:solidFill>
              </a:rPr>
              <a:t>論文上傳區塊</a:t>
            </a:r>
            <a:r>
              <a:rPr lang="en-US" altLang="zh-TW" sz="1200" dirty="0">
                <a:solidFill>
                  <a:schemeClr val="accent2"/>
                </a:solidFill>
              </a:rPr>
              <a:t>]</a:t>
            </a:r>
            <a:r>
              <a:rPr lang="zh-TW" altLang="en-US" sz="1200" dirty="0">
                <a:solidFill>
                  <a:schemeClr val="accent2"/>
                </a:solidFill>
              </a:rPr>
              <a:t>區塊可重新選檔案。檔名超過區塊則換行顯示，最多三行</a:t>
            </a:r>
            <a:endParaRPr lang="zh-TW" altLang="en-US" sz="1400" dirty="0">
              <a:solidFill>
                <a:schemeClr val="accent2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0442283-3752-D978-BD75-EA0BAD48259B}"/>
              </a:ext>
            </a:extLst>
          </p:cNvPr>
          <p:cNvSpPr/>
          <p:nvPr/>
        </p:nvSpPr>
        <p:spPr>
          <a:xfrm>
            <a:off x="8206740" y="3824555"/>
            <a:ext cx="2796540" cy="3204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563C09E-C21D-6617-2B1D-12FF6884D605}"/>
              </a:ext>
            </a:extLst>
          </p:cNvPr>
          <p:cNvSpPr txBox="1"/>
          <p:nvPr/>
        </p:nvSpPr>
        <p:spPr>
          <a:xfrm>
            <a:off x="9560167" y="5576826"/>
            <a:ext cx="2570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登入且上傳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pdf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後，</a:t>
            </a:r>
            <a:endParaRPr lang="en-US" altLang="zh-TW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點擊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繼續設定條件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前往設定條件頁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FD007E0-A9C9-ED35-E331-4BD991579E6F}"/>
              </a:ext>
            </a:extLst>
          </p:cNvPr>
          <p:cNvSpPr/>
          <p:nvPr/>
        </p:nvSpPr>
        <p:spPr>
          <a:xfrm>
            <a:off x="7757160" y="5522514"/>
            <a:ext cx="1436903" cy="47630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235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7C3C-E10A-CE8E-F7F1-8700E710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AEC597C-A61D-D547-3E0E-A12F427A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9" y="412677"/>
            <a:ext cx="7253611" cy="79128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 上傳論文頁－上傳出現錯誤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AC86A37-1889-1E7C-1245-7B242E4C7D24}"/>
              </a:ext>
            </a:extLst>
          </p:cNvPr>
          <p:cNvSpPr txBox="1"/>
          <p:nvPr/>
        </p:nvSpPr>
        <p:spPr>
          <a:xfrm>
            <a:off x="8079875" y="326828"/>
            <a:ext cx="3273925" cy="74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論文上傳區塊</a:t>
            </a: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TW" altLang="zh-TW" sz="1600" dirty="0">
                <a:solidFill>
                  <a:schemeClr val="accent1">
                    <a:lumMod val="75000"/>
                  </a:schemeClr>
                </a:solidFill>
              </a:rPr>
              <a:t>加入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錯誤的</a:t>
            </a:r>
            <a:r>
              <a:rPr lang="zh-TW" altLang="zh-TW" sz="1600" dirty="0">
                <a:solidFill>
                  <a:schemeClr val="accent1">
                    <a:lumMod val="75000"/>
                  </a:schemeClr>
                </a:solidFill>
              </a:rPr>
              <a:t>狀態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endParaRPr lang="en-US" altLang="zh-TW" sz="1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改變區塊顏色並顯示錯誤訊息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6ABDF32-0412-E702-BD4C-616A51111303}"/>
              </a:ext>
            </a:extLst>
          </p:cNvPr>
          <p:cNvSpPr txBox="1"/>
          <p:nvPr/>
        </p:nvSpPr>
        <p:spPr>
          <a:xfrm>
            <a:off x="1165859" y="5599068"/>
            <a:ext cx="7253611" cy="89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/>
              <a:t>錯誤訊息</a:t>
            </a:r>
            <a:r>
              <a:rPr lang="en-US" altLang="zh-TW" sz="1200" dirty="0"/>
              <a:t>1</a:t>
            </a:r>
            <a:r>
              <a:rPr lang="zh-TW" altLang="en-US" sz="1200" dirty="0"/>
              <a:t> </a:t>
            </a:r>
            <a:r>
              <a:rPr lang="en-US" altLang="zh-TW" sz="1200" dirty="0"/>
              <a:t>&gt; </a:t>
            </a:r>
            <a:r>
              <a:rPr lang="zh-TW" altLang="en-US" sz="1200" dirty="0"/>
              <a:t>上傳非</a:t>
            </a:r>
            <a:r>
              <a:rPr lang="en-US" altLang="zh-TW" sz="1200" dirty="0"/>
              <a:t>pdf</a:t>
            </a:r>
            <a:r>
              <a:rPr lang="zh-TW" altLang="en-US" sz="1200" dirty="0"/>
              <a:t>檔案：</a:t>
            </a:r>
            <a:r>
              <a:rPr lang="en-US" altLang="zh-TW" sz="1200" dirty="0"/>
              <a:t> </a:t>
            </a:r>
            <a:r>
              <a:rPr lang="zh-TW" altLang="zh-TW" sz="1200" dirty="0"/>
              <a:t>檔案格式錯誤，請上傳 PDF 格式的論文文件</a:t>
            </a:r>
            <a:endParaRPr lang="en-US" altLang="zh-TW" sz="1200" dirty="0"/>
          </a:p>
          <a:p>
            <a:pPr>
              <a:lnSpc>
                <a:spcPct val="150000"/>
              </a:lnSpc>
            </a:pPr>
            <a:r>
              <a:rPr lang="zh-TW" altLang="en-US" sz="1200" dirty="0"/>
              <a:t>錯誤訊息</a:t>
            </a:r>
            <a:r>
              <a:rPr lang="en-US" altLang="zh-TW" sz="1200" dirty="0"/>
              <a:t>2</a:t>
            </a:r>
            <a:r>
              <a:rPr lang="zh-TW" altLang="en-US" sz="1200" dirty="0"/>
              <a:t> </a:t>
            </a:r>
            <a:r>
              <a:rPr lang="en-US" altLang="zh-TW" sz="1200" dirty="0"/>
              <a:t>&gt; </a:t>
            </a:r>
            <a:r>
              <a:rPr lang="zh-TW" altLang="en-US" sz="1200" dirty="0"/>
              <a:t>檔案超過</a:t>
            </a:r>
            <a:r>
              <a:rPr lang="en-US" altLang="zh-TW" sz="1200" dirty="0"/>
              <a:t>50mb</a:t>
            </a:r>
            <a:r>
              <a:rPr lang="zh-TW" altLang="en-US" sz="1200" dirty="0"/>
              <a:t>：檔案超過</a:t>
            </a:r>
            <a:r>
              <a:rPr lang="en-US" altLang="zh-TW" sz="1200" dirty="0"/>
              <a:t>50mb</a:t>
            </a:r>
            <a:r>
              <a:rPr lang="zh-TW" altLang="en-US" sz="1200" dirty="0"/>
              <a:t>，請重新選擇檔案</a:t>
            </a:r>
            <a:endParaRPr lang="en-US" altLang="zh-TW" sz="1200" dirty="0"/>
          </a:p>
          <a:p>
            <a:pPr>
              <a:lnSpc>
                <a:spcPct val="150000"/>
              </a:lnSpc>
            </a:pPr>
            <a:r>
              <a:rPr lang="zh-TW" altLang="en-US" sz="1200" dirty="0"/>
              <a:t>錯誤訊息</a:t>
            </a:r>
            <a:r>
              <a:rPr lang="en-US" altLang="zh-TW" sz="1200" dirty="0"/>
              <a:t>3</a:t>
            </a:r>
            <a:r>
              <a:rPr lang="zh-TW" altLang="en-US" sz="1200" dirty="0"/>
              <a:t> </a:t>
            </a:r>
            <a:r>
              <a:rPr lang="en-US" altLang="zh-TW" sz="1200" dirty="0"/>
              <a:t>&gt; </a:t>
            </a:r>
            <a:r>
              <a:rPr lang="zh-TW" altLang="en-US" sz="1200" dirty="0"/>
              <a:t>其他錯誤：很抱歉，出現未知錯誤，請再試一次</a:t>
            </a:r>
            <a:endParaRPr lang="en-US" altLang="zh-TW" sz="1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2C802CC-21EC-8A77-0F70-ACDB892C3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59" y="1313790"/>
            <a:ext cx="7253611" cy="4223215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37432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D62F0-73E1-6E50-4403-C0B08A505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6"/>
            <a:ext cx="10515600" cy="1325563"/>
          </a:xfrm>
        </p:spPr>
        <p:txBody>
          <a:bodyPr/>
          <a:lstStyle/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 設定條件頁面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選擇區塊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AD0BB12-6B3A-5431-5773-FF2D71FD6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433" t="-1275" r="19799"/>
          <a:stretch>
            <a:fillRect/>
          </a:stretch>
        </p:blipFill>
        <p:spPr>
          <a:xfrm>
            <a:off x="884583" y="1568314"/>
            <a:ext cx="10515600" cy="471915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CF4EA49-0AF1-D149-1E9E-FF67918640DF}"/>
              </a:ext>
            </a:extLst>
          </p:cNvPr>
          <p:cNvSpPr/>
          <p:nvPr/>
        </p:nvSpPr>
        <p:spPr>
          <a:xfrm>
            <a:off x="4098565" y="3526381"/>
            <a:ext cx="6675451" cy="113838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BB2CF09-6155-2901-57C8-623D86B4FDC2}"/>
              </a:ext>
            </a:extLst>
          </p:cNvPr>
          <p:cNvSpPr txBox="1"/>
          <p:nvPr/>
        </p:nvSpPr>
        <p:spPr>
          <a:xfrm>
            <a:off x="5678556" y="3132511"/>
            <a:ext cx="37172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兩種模式選擇（差別只在於迭代次數）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B02DCD5-0FE9-AE00-A5EB-A920CCB7791A}"/>
              </a:ext>
            </a:extLst>
          </p:cNvPr>
          <p:cNvSpPr txBox="1"/>
          <p:nvPr/>
        </p:nvSpPr>
        <p:spPr>
          <a:xfrm>
            <a:off x="6350441" y="3581741"/>
            <a:ext cx="1007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迭代１次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88238AB-FF06-31B4-9634-82BAF98BF9C1}"/>
              </a:ext>
            </a:extLst>
          </p:cNvPr>
          <p:cNvSpPr txBox="1"/>
          <p:nvPr/>
        </p:nvSpPr>
        <p:spPr>
          <a:xfrm>
            <a:off x="9576352" y="3581741"/>
            <a:ext cx="1007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迭代３次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947FBC-227D-2489-2D97-305B18CD4313}"/>
              </a:ext>
            </a:extLst>
          </p:cNvPr>
          <p:cNvSpPr/>
          <p:nvPr/>
        </p:nvSpPr>
        <p:spPr>
          <a:xfrm>
            <a:off x="4098565" y="4775397"/>
            <a:ext cx="6675451" cy="136035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5AA36DF-9B99-5222-89EC-A09A3508B1D0}"/>
              </a:ext>
            </a:extLst>
          </p:cNvPr>
          <p:cNvSpPr txBox="1"/>
          <p:nvPr/>
        </p:nvSpPr>
        <p:spPr>
          <a:xfrm>
            <a:off x="4225123" y="5568745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填寫想要使用的研究方法、規模等。</a:t>
            </a:r>
            <a:endParaRPr lang="en-US" altLang="zh-TW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如果無法執行則忽略輸入的條件。</a:t>
            </a:r>
            <a:endParaRPr lang="zh-TW" altLang="en-US" sz="14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66C1A43-B10C-A701-E318-079B70B97943}"/>
              </a:ext>
            </a:extLst>
          </p:cNvPr>
          <p:cNvSpPr txBox="1"/>
          <p:nvPr/>
        </p:nvSpPr>
        <p:spPr>
          <a:xfrm>
            <a:off x="6980581" y="5568745"/>
            <a:ext cx="3337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另外，請設定忽略對迭代次數的需求，</a:t>
            </a:r>
            <a:endParaRPr lang="en-US" altLang="zh-TW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例如只買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點的方案卻寫要迭代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次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9062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5F7F-0E76-FFD7-8C6A-6736BF90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F9FDAA-E9A9-F63A-4987-CD0D7BD9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8" y="-126259"/>
            <a:ext cx="10515600" cy="1325563"/>
          </a:xfrm>
        </p:spPr>
        <p:txBody>
          <a:bodyPr/>
          <a:lstStyle/>
          <a:p>
            <a:r>
              <a:rPr lang="en-US" altLang="zh-TW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</a:rPr>
              <a:t> 設定條件頁面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</a:rPr>
              <a:t>說明區塊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63B7AF-FDEE-CEF7-A824-1FB9C088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57" y="837258"/>
            <a:ext cx="4038600" cy="347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600" dirty="0"/>
              <a:t>說明使用的</a:t>
            </a:r>
            <a:r>
              <a:rPr lang="en-US" altLang="zh-TW" sz="1600" dirty="0"/>
              <a:t>10</a:t>
            </a:r>
            <a:r>
              <a:rPr lang="zh-TW" altLang="en-US" sz="1600" dirty="0"/>
              <a:t>個創新理論和迭代的意思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8A42F96-F6FB-DC13-F8E2-2E8CA714920E}"/>
              </a:ext>
            </a:extLst>
          </p:cNvPr>
          <p:cNvGrpSpPr/>
          <p:nvPr/>
        </p:nvGrpSpPr>
        <p:grpSpPr>
          <a:xfrm>
            <a:off x="281608" y="1199305"/>
            <a:ext cx="5652053" cy="5465850"/>
            <a:chOff x="838200" y="998807"/>
            <a:chExt cx="6077078" cy="566634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5D28B72-131D-CACB-F14B-5E9FC7BFF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58" r="16175"/>
            <a:stretch>
              <a:fillRect/>
            </a:stretch>
          </p:blipFill>
          <p:spPr>
            <a:xfrm>
              <a:off x="838200" y="998807"/>
              <a:ext cx="6077078" cy="330680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229B64BC-6F69-298C-CD08-D4FFA0907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4157953"/>
              <a:ext cx="6077078" cy="250720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310CF887-6A71-2A92-2163-920A20E1219F}"/>
              </a:ext>
            </a:extLst>
          </p:cNvPr>
          <p:cNvGrpSpPr/>
          <p:nvPr/>
        </p:nvGrpSpPr>
        <p:grpSpPr>
          <a:xfrm>
            <a:off x="6096000" y="1955040"/>
            <a:ext cx="6025661" cy="4710113"/>
            <a:chOff x="6297228" y="1518409"/>
            <a:chExt cx="5824433" cy="4540414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98CDF63B-EDE9-90FD-A36E-6C1BF98B6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97228" y="1518409"/>
              <a:ext cx="5824433" cy="3243478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E232D471-401D-25C5-7B7F-A9C48717A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94" r="241"/>
            <a:stretch>
              <a:fillRect/>
            </a:stretch>
          </p:blipFill>
          <p:spPr>
            <a:xfrm>
              <a:off x="6297228" y="4761887"/>
              <a:ext cx="5824433" cy="1296936"/>
            </a:xfrm>
            <a:prstGeom prst="rect">
              <a:avLst/>
            </a:prstGeom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4552F9B3-CABB-8B68-23AF-A587AA38C6C8}"/>
              </a:ext>
            </a:extLst>
          </p:cNvPr>
          <p:cNvSpPr/>
          <p:nvPr/>
        </p:nvSpPr>
        <p:spPr>
          <a:xfrm>
            <a:off x="281608" y="1199304"/>
            <a:ext cx="5652053" cy="54658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1E9BAF-4399-C80F-A73D-07C8BB7792F0}"/>
              </a:ext>
            </a:extLst>
          </p:cNvPr>
          <p:cNvSpPr/>
          <p:nvPr/>
        </p:nvSpPr>
        <p:spPr>
          <a:xfrm>
            <a:off x="6072810" y="1955040"/>
            <a:ext cx="6048851" cy="4695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87E533F-6028-73B0-17FE-E0C8564D4B67}"/>
              </a:ext>
            </a:extLst>
          </p:cNvPr>
          <p:cNvSpPr txBox="1"/>
          <p:nvPr/>
        </p:nvSpPr>
        <p:spPr>
          <a:xfrm>
            <a:off x="6096000" y="1357020"/>
            <a:ext cx="464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皆為純文字，文字內容請從 </a:t>
            </a:r>
            <a:r>
              <a:rPr lang="en-US" altLang="zh-TW" sz="1600" dirty="0">
                <a:solidFill>
                  <a:schemeClr val="accent1">
                    <a:lumMod val="75000"/>
                  </a:schemeClr>
                </a:solidFill>
              </a:rPr>
              <a:t>DEMO</a:t>
            </a:r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 畫面網址複製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1619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0E679B0-448C-E1A3-9227-DA4B0D574A8E}"/>
              </a:ext>
            </a:extLst>
          </p:cNvPr>
          <p:cNvSpPr txBox="1">
            <a:spLocks/>
          </p:cNvSpPr>
          <p:nvPr/>
        </p:nvSpPr>
        <p:spPr>
          <a:xfrm>
            <a:off x="573157" y="192846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 設定條件頁面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結帳區塊</a:t>
            </a:r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487323E-A1DA-D00A-C3FC-B4B8F18AC2ED}"/>
              </a:ext>
            </a:extLst>
          </p:cNvPr>
          <p:cNvGrpSpPr/>
          <p:nvPr/>
        </p:nvGrpSpPr>
        <p:grpSpPr>
          <a:xfrm>
            <a:off x="506437" y="1101068"/>
            <a:ext cx="11179126" cy="3728211"/>
            <a:chOff x="506437" y="1564894"/>
            <a:chExt cx="11179126" cy="3728211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1ED4987-0A7C-D5D0-3C2F-DC61121D9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437" y="1564894"/>
              <a:ext cx="11179126" cy="37282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1FD620B-D82B-9D0A-4B5C-A56BDE4BCD46}"/>
                </a:ext>
              </a:extLst>
            </p:cNvPr>
            <p:cNvSpPr txBox="1"/>
            <p:nvPr/>
          </p:nvSpPr>
          <p:spPr>
            <a:xfrm>
              <a:off x="2422151" y="2783613"/>
              <a:ext cx="38411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solidFill>
                    <a:schemeClr val="accent4">
                      <a:lumMod val="50000"/>
                    </a:schemeClr>
                  </a:solidFill>
                </a:rPr>
                <a:t>若無法預估則簡易模式寫</a:t>
              </a:r>
              <a:r>
                <a:rPr lang="en-US" altLang="zh-TW" sz="1200" dirty="0">
                  <a:solidFill>
                    <a:schemeClr val="accent4">
                      <a:lumMod val="50000"/>
                    </a:schemeClr>
                  </a:solidFill>
                </a:rPr>
                <a:t>25</a:t>
              </a:r>
              <a:r>
                <a:rPr lang="zh-TW" altLang="en-US" sz="1200" dirty="0">
                  <a:solidFill>
                    <a:schemeClr val="accent4">
                      <a:lumMod val="50000"/>
                    </a:schemeClr>
                  </a:solidFill>
                </a:rPr>
                <a:t>分鐘，一般模式寫</a:t>
              </a:r>
              <a:r>
                <a:rPr lang="en-US" altLang="zh-TW" sz="1200" dirty="0">
                  <a:solidFill>
                    <a:schemeClr val="accent4">
                      <a:lumMod val="50000"/>
                    </a:schemeClr>
                  </a:solidFill>
                </a:rPr>
                <a:t>45</a:t>
              </a:r>
              <a:r>
                <a:rPr lang="zh-TW" altLang="en-US" sz="1200" dirty="0">
                  <a:solidFill>
                    <a:schemeClr val="accent4">
                      <a:lumMod val="50000"/>
                    </a:schemeClr>
                  </a:solidFill>
                </a:rPr>
                <a:t>分鐘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96344BEA-02F4-C616-EA59-FFD4726CA26A}"/>
              </a:ext>
            </a:extLst>
          </p:cNvPr>
          <p:cNvSpPr/>
          <p:nvPr/>
        </p:nvSpPr>
        <p:spPr>
          <a:xfrm>
            <a:off x="1470991" y="2591946"/>
            <a:ext cx="1939102" cy="36933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A2D658-7A7E-B6D0-61B3-1D287A832CC4}"/>
              </a:ext>
            </a:extLst>
          </p:cNvPr>
          <p:cNvSpPr txBox="1"/>
          <p:nvPr/>
        </p:nvSpPr>
        <p:spPr>
          <a:xfrm>
            <a:off x="506437" y="4815040"/>
            <a:ext cx="6497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點擊 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[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開始生成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&gt;]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1.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若餘額足夠，前往 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3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生成中頁面</a:t>
            </a:r>
            <a:endParaRPr lang="en-US" altLang="zh-TW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2.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若餘額不足，維持已輸入的資料，跳出儲值彈窗。</a:t>
            </a:r>
            <a:endParaRPr lang="en-US" altLang="zh-TW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    儲值後回到此畫面，再次點擊 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[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開始生成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&gt;]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前往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3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生成中頁面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EC4EEEC-B43D-B93F-AD66-D4B2D945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668" y="4368426"/>
            <a:ext cx="1448317" cy="2412533"/>
          </a:xfrm>
          <a:prstGeom prst="rect">
            <a:avLst/>
          </a:prstGeom>
        </p:spPr>
      </p:pic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533897AB-1DF0-8947-90FC-E0FCD7DDCE2F}"/>
              </a:ext>
            </a:extLst>
          </p:cNvPr>
          <p:cNvCxnSpPr>
            <a:cxnSpLocks/>
          </p:cNvCxnSpPr>
          <p:nvPr/>
        </p:nvCxnSpPr>
        <p:spPr>
          <a:xfrm flipV="1">
            <a:off x="5865630" y="5341586"/>
            <a:ext cx="1318591" cy="402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70FD823-B6DE-CCE9-AE1B-FCC429A93D88}"/>
              </a:ext>
            </a:extLst>
          </p:cNvPr>
          <p:cNvCxnSpPr>
            <a:cxnSpLocks/>
          </p:cNvCxnSpPr>
          <p:nvPr/>
        </p:nvCxnSpPr>
        <p:spPr>
          <a:xfrm flipH="1" flipV="1">
            <a:off x="8241167" y="3406946"/>
            <a:ext cx="77886" cy="290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4CB780B-7C26-FF94-CAFF-B48A5BEE92BC}"/>
              </a:ext>
            </a:extLst>
          </p:cNvPr>
          <p:cNvSpPr txBox="1"/>
          <p:nvPr/>
        </p:nvSpPr>
        <p:spPr>
          <a:xfrm>
            <a:off x="7070036" y="3059668"/>
            <a:ext cx="2630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回到 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 上傳論文 頁面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A9B2050-3A14-EEDB-7CEC-4DDEFD5E60CF}"/>
              </a:ext>
            </a:extLst>
          </p:cNvPr>
          <p:cNvSpPr txBox="1"/>
          <p:nvPr/>
        </p:nvSpPr>
        <p:spPr>
          <a:xfrm>
            <a:off x="9435547" y="1895702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本次將消耗點數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2AC10CD-C4E1-538D-E22D-69D40EA77F3D}"/>
              </a:ext>
            </a:extLst>
          </p:cNvPr>
          <p:cNvCxnSpPr>
            <a:cxnSpLocks/>
          </p:cNvCxnSpPr>
          <p:nvPr/>
        </p:nvCxnSpPr>
        <p:spPr>
          <a:xfrm>
            <a:off x="10343321" y="4061889"/>
            <a:ext cx="140306" cy="306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04A825-0C90-65F2-E41C-1B08FD8FC0BF}"/>
              </a:ext>
            </a:extLst>
          </p:cNvPr>
          <p:cNvSpPr txBox="1"/>
          <p:nvPr/>
        </p:nvSpPr>
        <p:spPr>
          <a:xfrm>
            <a:off x="9904689" y="4342111"/>
            <a:ext cx="1448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見下方說明</a:t>
            </a:r>
          </a:p>
        </p:txBody>
      </p:sp>
    </p:spTree>
    <p:extLst>
      <p:ext uri="{BB962C8B-B14F-4D97-AF65-F5344CB8AC3E}">
        <p14:creationId xmlns:p14="http://schemas.microsoft.com/office/powerpoint/2010/main" val="2151375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1C36631-2483-2647-559E-8902E2F0FF2A}"/>
              </a:ext>
            </a:extLst>
          </p:cNvPr>
          <p:cNvSpPr txBox="1">
            <a:spLocks/>
          </p:cNvSpPr>
          <p:nvPr/>
        </p:nvSpPr>
        <p:spPr>
          <a:xfrm>
            <a:off x="364437" y="59891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 生成中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8048B8-3F03-848F-67A5-8AF14839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4" y="967409"/>
            <a:ext cx="8599980" cy="578457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1B1620E-CE0C-972A-AA4F-EA60AA5D437F}"/>
              </a:ext>
            </a:extLst>
          </p:cNvPr>
          <p:cNvSpPr/>
          <p:nvPr/>
        </p:nvSpPr>
        <p:spPr>
          <a:xfrm>
            <a:off x="4876800" y="2598728"/>
            <a:ext cx="1331843" cy="56854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A8E805F-86F9-C340-F85D-EB361DBCD294}"/>
              </a:ext>
            </a:extLst>
          </p:cNvPr>
          <p:cNvSpPr txBox="1"/>
          <p:nvPr/>
        </p:nvSpPr>
        <p:spPr>
          <a:xfrm>
            <a:off x="6208644" y="2679435"/>
            <a:ext cx="1411358" cy="70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2"/>
                </a:solidFill>
              </a:rPr>
              <a:t>進行中步驟名稱</a:t>
            </a:r>
            <a:endParaRPr lang="en-US" altLang="zh-TW" sz="1200" dirty="0">
              <a:solidFill>
                <a:schemeClr val="accent2"/>
              </a:solidFill>
            </a:endParaRPr>
          </a:p>
          <a:p>
            <a:r>
              <a:rPr lang="zh-TW" altLang="en-US" sz="1200" dirty="0">
                <a:solidFill>
                  <a:schemeClr val="accent2"/>
                </a:solidFill>
              </a:rPr>
              <a:t>進行中步驟說明</a:t>
            </a:r>
            <a:endParaRPr lang="en-US" altLang="zh-TW" sz="1200" dirty="0">
              <a:solidFill>
                <a:schemeClr val="accent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1200" dirty="0">
                <a:solidFill>
                  <a:schemeClr val="accent2"/>
                </a:solidFill>
              </a:rPr>
              <a:t>(</a:t>
            </a:r>
            <a:r>
              <a:rPr lang="zh-TW" altLang="en-US" sz="1200" dirty="0">
                <a:solidFill>
                  <a:schemeClr val="accent2"/>
                </a:solidFill>
              </a:rPr>
              <a:t>見右方</a:t>
            </a:r>
            <a:r>
              <a:rPr lang="en-US" altLang="zh-TW" sz="1200" dirty="0">
                <a:solidFill>
                  <a:schemeClr val="accent2"/>
                </a:solidFill>
              </a:rPr>
              <a:t>)</a:t>
            </a:r>
            <a:endParaRPr lang="zh-TW" altLang="en-US" sz="1400" dirty="0">
              <a:solidFill>
                <a:schemeClr val="accent2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85AF52D-AF2A-CCDB-350A-2E60DA7A9165}"/>
              </a:ext>
            </a:extLst>
          </p:cNvPr>
          <p:cNvSpPr txBox="1"/>
          <p:nvPr/>
        </p:nvSpPr>
        <p:spPr>
          <a:xfrm>
            <a:off x="2708289" y="3235909"/>
            <a:ext cx="1411358" cy="8908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</a:rPr>
              <a:t>已完成：綠色</a:t>
            </a:r>
            <a:endParaRPr lang="en-US" altLang="zh-TW" sz="12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200" b="1" dirty="0"/>
              <a:t>進行中：黑色粗體</a:t>
            </a:r>
            <a:endParaRPr lang="en-US" altLang="zh-TW" sz="1200" b="1" dirty="0"/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>
                    <a:lumMod val="50000"/>
                  </a:schemeClr>
                </a:solidFill>
              </a:rPr>
              <a:t>待進行：灰色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F7F7642-FDAD-093B-1025-305F10284D3D}"/>
              </a:ext>
            </a:extLst>
          </p:cNvPr>
          <p:cNvSpPr txBox="1"/>
          <p:nvPr/>
        </p:nvSpPr>
        <p:spPr>
          <a:xfrm>
            <a:off x="9080411" y="1712269"/>
            <a:ext cx="29432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zh-TW" altLang="zh-TW" dirty="0">
                <a:effectLst/>
              </a:rPr>
              <a:t>論文結構分析與萃取</a:t>
            </a:r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TC"/>
                <a:ea typeface="Noto Sans TC"/>
                <a:cs typeface="+mn-cs"/>
              </a:rPr>
              <a:t>萃取詮釋資料與研究方法論</a:t>
            </a:r>
          </a:p>
          <a:p>
            <a:pPr marL="0" marR="0" indent="0">
              <a:buNone/>
            </a:pPr>
            <a:endParaRPr lang="zh-TW" altLang="zh-TW" dirty="0">
              <a:effectLst/>
            </a:endParaRPr>
          </a:p>
          <a:p>
            <a:pPr marL="0" marR="0" indent="0">
              <a:buNone/>
            </a:pPr>
            <a:r>
              <a:rPr lang="zh-TW" altLang="zh-TW" dirty="0">
                <a:effectLst/>
              </a:rPr>
              <a:t>套用創新理論生成種子想法</a:t>
            </a:r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TC"/>
                <a:ea typeface="Noto Sans TC"/>
                <a:cs typeface="+mn-cs"/>
              </a:rPr>
              <a:t>生成多元研究視角種子想法</a:t>
            </a:r>
          </a:p>
          <a:p>
            <a:pPr marL="0" marR="0" indent="0">
              <a:buNone/>
            </a:pPr>
            <a:endParaRPr lang="zh-TW" altLang="zh-TW" dirty="0">
              <a:effectLst/>
            </a:endParaRPr>
          </a:p>
          <a:p>
            <a:pPr marL="0" marR="0" indent="0">
              <a:buNone/>
            </a:pPr>
            <a:r>
              <a:rPr lang="zh-TW" altLang="zh-TW" dirty="0">
                <a:effectLst/>
              </a:rPr>
              <a:t>文獻搜尋與比對</a:t>
            </a:r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>
                <a:solidFill>
                  <a:prstClr val="black"/>
                </a:solidFill>
                <a:latin typeface="Noto Sans TC"/>
                <a:ea typeface="Noto Sans TC"/>
              </a:rPr>
              <a:t>檢索外部權威文獻，強化論證基礎</a:t>
            </a:r>
            <a:endParaRPr kumimoji="0" lang="zh-TW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TC"/>
              <a:ea typeface="Noto Sans TC"/>
              <a:cs typeface="+mn-cs"/>
            </a:endParaRPr>
          </a:p>
          <a:p>
            <a:pPr marL="0" marR="0" indent="0">
              <a:buNone/>
            </a:pPr>
            <a:endParaRPr lang="zh-TW" altLang="zh-TW" dirty="0">
              <a:effectLst/>
            </a:endParaRPr>
          </a:p>
          <a:p>
            <a:pPr marL="0" marR="0" indent="0">
              <a:buNone/>
            </a:pPr>
            <a:r>
              <a:rPr lang="zh-TW" altLang="zh-TW" dirty="0">
                <a:effectLst/>
              </a:rPr>
              <a:t>新穎性過濾</a:t>
            </a:r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TC"/>
                <a:ea typeface="Noto Sans TC"/>
                <a:cs typeface="+mn-cs"/>
              </a:rPr>
              <a:t>淘汰與現有研究高度重疊的方向</a:t>
            </a:r>
          </a:p>
          <a:p>
            <a:pPr marL="0" marR="0" indent="0">
              <a:buNone/>
            </a:pPr>
            <a:endParaRPr lang="zh-TW" altLang="zh-TW" dirty="0">
              <a:effectLst/>
            </a:endParaRPr>
          </a:p>
          <a:p>
            <a:pPr>
              <a:buNone/>
            </a:pPr>
            <a:r>
              <a:rPr lang="zh-TW" altLang="zh-TW" dirty="0">
                <a:effectLst/>
              </a:rPr>
              <a:t>生成結構化研究提案</a:t>
            </a:r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TC"/>
                <a:ea typeface="Noto Sans TC"/>
                <a:cs typeface="+mn-cs"/>
              </a:rPr>
              <a:t>整合研究動機與試驗計畫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TC"/>
              <a:ea typeface="Noto Sans TC"/>
              <a:cs typeface="+mn-cs"/>
            </a:endParaRPr>
          </a:p>
          <a:p>
            <a:pPr>
              <a:buNone/>
            </a:pPr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E509FF87-492D-7312-6338-F40AC7F9856B}"/>
              </a:ext>
            </a:extLst>
          </p:cNvPr>
          <p:cNvCxnSpPr/>
          <p:nvPr/>
        </p:nvCxnSpPr>
        <p:spPr>
          <a:xfrm flipV="1">
            <a:off x="5760046" y="2061321"/>
            <a:ext cx="266131" cy="150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073510A-E4A2-B92C-07CD-7B6F6A2D8CDE}"/>
              </a:ext>
            </a:extLst>
          </p:cNvPr>
          <p:cNvSpPr txBox="1"/>
          <p:nvPr/>
        </p:nvSpPr>
        <p:spPr>
          <a:xfrm>
            <a:off x="6026178" y="1830488"/>
            <a:ext cx="159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加入 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Loading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 動畫</a:t>
            </a:r>
            <a:endParaRPr lang="en-US" altLang="zh-TW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看起來比較不像當機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6CC14F-6377-C3F1-14A6-F189974B00B5}"/>
              </a:ext>
            </a:extLst>
          </p:cNvPr>
          <p:cNvSpPr/>
          <p:nvPr/>
        </p:nvSpPr>
        <p:spPr>
          <a:xfrm>
            <a:off x="429904" y="2007882"/>
            <a:ext cx="1480783" cy="46044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6AF2A46-2446-63F8-F225-8272C5EC3394}"/>
              </a:ext>
            </a:extLst>
          </p:cNvPr>
          <p:cNvSpPr txBox="1"/>
          <p:nvPr/>
        </p:nvSpPr>
        <p:spPr>
          <a:xfrm>
            <a:off x="1910687" y="5989664"/>
            <a:ext cx="2661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點擊各項歷史紀錄則另開分頁顯示，</a:t>
            </a:r>
            <a:endParaRPr lang="en-US" altLang="zh-TW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提案繼續生成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92DFFA-F261-6E90-214A-EB605393F9AC}"/>
              </a:ext>
            </a:extLst>
          </p:cNvPr>
          <p:cNvSpPr/>
          <p:nvPr/>
        </p:nvSpPr>
        <p:spPr>
          <a:xfrm>
            <a:off x="484841" y="1174589"/>
            <a:ext cx="1910341" cy="6558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00A444D-3AAB-9499-01E2-C0B171E20502}"/>
              </a:ext>
            </a:extLst>
          </p:cNvPr>
          <p:cNvSpPr txBox="1"/>
          <p:nvPr/>
        </p:nvSpPr>
        <p:spPr>
          <a:xfrm>
            <a:off x="429904" y="896447"/>
            <a:ext cx="3125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點擊打開帳戶彈窗，背景繼續生成提案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A2FA60C9-3823-7CDA-9F98-2F89E4084DB4}"/>
              </a:ext>
            </a:extLst>
          </p:cNvPr>
          <p:cNvSpPr txBox="1"/>
          <p:nvPr/>
        </p:nvSpPr>
        <p:spPr>
          <a:xfrm>
            <a:off x="8856604" y="6421150"/>
            <a:ext cx="3294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提案生成後，自動前往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</a:rPr>
              <a:t> 研究提案 頁面</a:t>
            </a:r>
          </a:p>
        </p:txBody>
      </p:sp>
    </p:spTree>
    <p:extLst>
      <p:ext uri="{BB962C8B-B14F-4D97-AF65-F5344CB8AC3E}">
        <p14:creationId xmlns:p14="http://schemas.microsoft.com/office/powerpoint/2010/main" val="1029593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6C31A1A-81C3-05CA-AA72-53C96D498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7180"/>
          <a:stretch>
            <a:fillRect/>
          </a:stretch>
        </p:blipFill>
        <p:spPr>
          <a:xfrm>
            <a:off x="831963" y="1360170"/>
            <a:ext cx="10528074" cy="432054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AC1FC6BF-078D-FF70-2EE0-4655E0AA5C53}"/>
              </a:ext>
            </a:extLst>
          </p:cNvPr>
          <p:cNvSpPr txBox="1">
            <a:spLocks/>
          </p:cNvSpPr>
          <p:nvPr/>
        </p:nvSpPr>
        <p:spPr>
          <a:xfrm>
            <a:off x="661617" y="341831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3.1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 生成失敗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0B8912-7BE0-8C50-5D8C-922271AEF59D}"/>
              </a:ext>
            </a:extLst>
          </p:cNvPr>
          <p:cNvSpPr txBox="1"/>
          <p:nvPr/>
        </p:nvSpPr>
        <p:spPr>
          <a:xfrm>
            <a:off x="4227858" y="4369414"/>
            <a:ext cx="1868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返還本次使用的點數，</a:t>
            </a:r>
            <a:endParaRPr lang="en-US" altLang="zh-TW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並回到 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</a:rPr>
              <a:t>設定條件頁面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1DB58A-1054-E6A1-7EA7-58F2029A23E2}"/>
              </a:ext>
            </a:extLst>
          </p:cNvPr>
          <p:cNvSpPr/>
          <p:nvPr/>
        </p:nvSpPr>
        <p:spPr>
          <a:xfrm>
            <a:off x="5920740" y="4369414"/>
            <a:ext cx="1150620" cy="461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EC45ADF-B964-1260-2D0E-BA9A5CB45730}"/>
              </a:ext>
            </a:extLst>
          </p:cNvPr>
          <p:cNvSpPr txBox="1"/>
          <p:nvPr/>
        </p:nvSpPr>
        <p:spPr>
          <a:xfrm>
            <a:off x="8335038" y="4369413"/>
            <a:ext cx="1868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回到 </a:t>
            </a:r>
            <a:r>
              <a:rPr lang="en-US" altLang="zh-TW" sz="1200" dirty="0">
                <a:solidFill>
                  <a:srgbClr val="FF0000"/>
                </a:solidFill>
              </a:rPr>
              <a:t>3</a:t>
            </a:r>
            <a:r>
              <a:rPr lang="zh-TW" altLang="en-US" sz="1200" dirty="0">
                <a:solidFill>
                  <a:srgbClr val="FF0000"/>
                </a:solidFill>
              </a:rPr>
              <a:t>生成中，</a:t>
            </a:r>
            <a:endParaRPr lang="en-US" altLang="zh-TW" sz="1200" dirty="0">
              <a:solidFill>
                <a:srgbClr val="FF0000"/>
              </a:solidFill>
            </a:endParaRPr>
          </a:p>
          <a:p>
            <a:r>
              <a:rPr lang="zh-TW" altLang="en-US" sz="1200" dirty="0">
                <a:solidFill>
                  <a:srgbClr val="FF0000"/>
                </a:solidFill>
              </a:rPr>
              <a:t>重新生成一次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B9AE6A-3FD6-6C31-32E2-0CCE2060A470}"/>
              </a:ext>
            </a:extLst>
          </p:cNvPr>
          <p:cNvSpPr/>
          <p:nvPr/>
        </p:nvSpPr>
        <p:spPr>
          <a:xfrm>
            <a:off x="7127889" y="4369412"/>
            <a:ext cx="11506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23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圖片 30">
            <a:extLst>
              <a:ext uri="{FF2B5EF4-FFF2-40B4-BE49-F238E27FC236}">
                <a16:creationId xmlns:a16="http://schemas.microsoft.com/office/drawing/2014/main" id="{9AD2740A-D1F0-6061-30A5-73C240B83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822" y="1005829"/>
            <a:ext cx="8736356" cy="569288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D111C52F-840D-0A0F-71C1-41D88663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065" y="6124307"/>
            <a:ext cx="6221598" cy="65433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BFBFEB-4EDA-F109-851D-C9402FA930BF}"/>
              </a:ext>
            </a:extLst>
          </p:cNvPr>
          <p:cNvSpPr txBox="1"/>
          <p:nvPr/>
        </p:nvSpPr>
        <p:spPr>
          <a:xfrm>
            <a:off x="5271635" y="1506223"/>
            <a:ext cx="1799911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4C71C5"/>
                </a:solidFill>
              </a:rPr>
              <a:t>上傳的</a:t>
            </a:r>
            <a:r>
              <a:rPr lang="en-US" altLang="zh-TW" sz="1200" dirty="0">
                <a:solidFill>
                  <a:srgbClr val="4C71C5"/>
                </a:solidFill>
              </a:rPr>
              <a:t>pdf</a:t>
            </a:r>
            <a:r>
              <a:rPr lang="zh-TW" altLang="en-US" sz="1200" dirty="0">
                <a:solidFill>
                  <a:srgbClr val="4C71C5"/>
                </a:solidFill>
              </a:rPr>
              <a:t>檔名</a:t>
            </a:r>
            <a:endParaRPr lang="zh-TW" altLang="en-US" sz="1400" dirty="0">
              <a:solidFill>
                <a:srgbClr val="4C71C5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A8975AF7-394B-9A2C-211D-A941CC5D771E}"/>
              </a:ext>
            </a:extLst>
          </p:cNvPr>
          <p:cNvSpPr txBox="1">
            <a:spLocks/>
          </p:cNvSpPr>
          <p:nvPr/>
        </p:nvSpPr>
        <p:spPr>
          <a:xfrm>
            <a:off x="318054" y="159282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4 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研究提案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總覽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338CCFF-06CB-42D6-60CA-77DA47314DBA}"/>
              </a:ext>
            </a:extLst>
          </p:cNvPr>
          <p:cNvSpPr txBox="1"/>
          <p:nvPr/>
        </p:nvSpPr>
        <p:spPr>
          <a:xfrm>
            <a:off x="10150834" y="5787484"/>
            <a:ext cx="2041166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accent1"/>
                </a:solidFill>
              </a:rPr>
              <a:t>點擊前往 </a:t>
            </a:r>
            <a:r>
              <a:rPr lang="en-US" altLang="zh-TW" sz="1200" dirty="0">
                <a:solidFill>
                  <a:schemeClr val="accent1"/>
                </a:solidFill>
              </a:rPr>
              <a:t>1</a:t>
            </a:r>
            <a:r>
              <a:rPr lang="zh-TW" altLang="en-US" sz="1200" dirty="0">
                <a:solidFill>
                  <a:schemeClr val="accent1"/>
                </a:solidFill>
              </a:rPr>
              <a:t> 論文上傳 頁面</a:t>
            </a:r>
            <a:endParaRPr lang="zh-TW" altLang="en-US" sz="1400" dirty="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FA3467-C6C6-27AA-4B09-795C3495AFB6}"/>
              </a:ext>
            </a:extLst>
          </p:cNvPr>
          <p:cNvSpPr/>
          <p:nvPr/>
        </p:nvSpPr>
        <p:spPr>
          <a:xfrm>
            <a:off x="9609744" y="1878527"/>
            <a:ext cx="401101" cy="273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57101CC-C0DE-FEF4-2307-D268B5B3B347}"/>
              </a:ext>
            </a:extLst>
          </p:cNvPr>
          <p:cNvSpPr txBox="1"/>
          <p:nvPr/>
        </p:nvSpPr>
        <p:spPr>
          <a:xfrm>
            <a:off x="10150834" y="1702283"/>
            <a:ext cx="1865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可手動編輯標題，標題連動到歷史紀錄標題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0C64476-C877-747C-23C2-D780F2C367AE}"/>
              </a:ext>
            </a:extLst>
          </p:cNvPr>
          <p:cNvSpPr txBox="1"/>
          <p:nvPr/>
        </p:nvSpPr>
        <p:spPr>
          <a:xfrm>
            <a:off x="5271634" y="1827125"/>
            <a:ext cx="2610288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FF0000"/>
                </a:solidFill>
              </a:rPr>
              <a:t>標題，預設為抓出的原始論文名稱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13B304-5BA3-C981-9173-F1ED77D3728D}"/>
              </a:ext>
            </a:extLst>
          </p:cNvPr>
          <p:cNvSpPr/>
          <p:nvPr/>
        </p:nvSpPr>
        <p:spPr>
          <a:xfrm>
            <a:off x="4118569" y="1584889"/>
            <a:ext cx="1153066" cy="273143"/>
          </a:xfrm>
          <a:prstGeom prst="rect">
            <a:avLst/>
          </a:prstGeom>
          <a:noFill/>
          <a:ln>
            <a:solidFill>
              <a:srgbClr val="4C71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F0D6DC-2DD4-33E7-FEEF-A35130CA3F25}"/>
              </a:ext>
            </a:extLst>
          </p:cNvPr>
          <p:cNvSpPr/>
          <p:nvPr/>
        </p:nvSpPr>
        <p:spPr>
          <a:xfrm>
            <a:off x="4118569" y="1858966"/>
            <a:ext cx="1153066" cy="273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E385C2-57A5-D2F0-A942-82BA5C2136AB}"/>
              </a:ext>
            </a:extLst>
          </p:cNvPr>
          <p:cNvSpPr/>
          <p:nvPr/>
        </p:nvSpPr>
        <p:spPr>
          <a:xfrm>
            <a:off x="4109064" y="6156146"/>
            <a:ext cx="6122517" cy="4178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524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B3039-1002-7D6B-5E1B-19168B8C4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FF9E178B-9207-2154-A5A4-5591872E02E1}"/>
              </a:ext>
            </a:extLst>
          </p:cNvPr>
          <p:cNvSpPr txBox="1">
            <a:spLocks/>
          </p:cNvSpPr>
          <p:nvPr/>
        </p:nvSpPr>
        <p:spPr>
          <a:xfrm>
            <a:off x="318054" y="159282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4 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研究提案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展開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6A2BAE2-F987-46E4-C209-E966EA58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274" y="57844"/>
            <a:ext cx="7038404" cy="67423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D158A56-E0BD-EDF7-D407-5004D23D6C39}"/>
              </a:ext>
            </a:extLst>
          </p:cNvPr>
          <p:cNvCxnSpPr>
            <a:cxnSpLocks/>
          </p:cNvCxnSpPr>
          <p:nvPr/>
        </p:nvCxnSpPr>
        <p:spPr>
          <a:xfrm flipV="1">
            <a:off x="9715819" y="546563"/>
            <a:ext cx="0" cy="387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E22FF3-9DF7-5846-D14E-A4A694FE8C63}"/>
              </a:ext>
            </a:extLst>
          </p:cNvPr>
          <p:cNvSpPr txBox="1"/>
          <p:nvPr/>
        </p:nvSpPr>
        <p:spPr>
          <a:xfrm>
            <a:off x="9130748" y="159282"/>
            <a:ext cx="2206488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accent1"/>
                </a:solidFill>
              </a:rPr>
              <a:t>提案中提出要用什麼研究方法</a:t>
            </a:r>
            <a:endParaRPr lang="zh-TW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2AC9F1-00BA-FEBE-5333-B6F372BBDA1F}"/>
              </a:ext>
            </a:extLst>
          </p:cNvPr>
          <p:cNvSpPr txBox="1"/>
          <p:nvPr/>
        </p:nvSpPr>
        <p:spPr>
          <a:xfrm>
            <a:off x="5519530" y="5374012"/>
            <a:ext cx="2206488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200" dirty="0">
                <a:solidFill>
                  <a:schemeClr val="accent1"/>
                </a:solidFill>
              </a:rPr>
              <a:t>(</a:t>
            </a:r>
            <a:r>
              <a:rPr lang="zh-TW" altLang="en-US" sz="1200" dirty="0">
                <a:solidFill>
                  <a:schemeClr val="accent1"/>
                </a:solidFill>
              </a:rPr>
              <a:t>預設收合</a:t>
            </a:r>
            <a:r>
              <a:rPr lang="en-US" altLang="zh-TW" sz="1200" dirty="0">
                <a:solidFill>
                  <a:schemeClr val="accent1"/>
                </a:solidFill>
              </a:rPr>
              <a:t>)</a:t>
            </a:r>
            <a:endParaRPr lang="zh-TW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5670253-0E26-4FE7-7CC7-82A31C0696C3}"/>
              </a:ext>
            </a:extLst>
          </p:cNvPr>
          <p:cNvSpPr txBox="1"/>
          <p:nvPr/>
        </p:nvSpPr>
        <p:spPr>
          <a:xfrm>
            <a:off x="6683200" y="6242284"/>
            <a:ext cx="967409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accent1"/>
                </a:solidFill>
              </a:rPr>
              <a:t>使用者評價</a:t>
            </a:r>
            <a:endParaRPr lang="zh-TW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D7966E-333C-C603-0A41-55F18D70B51B}"/>
              </a:ext>
            </a:extLst>
          </p:cNvPr>
          <p:cNvSpPr txBox="1"/>
          <p:nvPr/>
        </p:nvSpPr>
        <p:spPr>
          <a:xfrm>
            <a:off x="9448286" y="5796874"/>
            <a:ext cx="1729409" cy="613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accent1"/>
                </a:solidFill>
              </a:rPr>
              <a:t>複製本提案所有內容，</a:t>
            </a:r>
            <a:endParaRPr lang="en-US" altLang="zh-TW" sz="12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accent1"/>
                </a:solidFill>
              </a:rPr>
              <a:t>包含參考文獻</a:t>
            </a:r>
            <a:endParaRPr lang="zh-TW" altLang="en-US" sz="1400" dirty="0">
              <a:solidFill>
                <a:schemeClr val="accent1"/>
              </a:solidFill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17559CD-1728-4602-3D5E-3BAAFEE9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25479" b="-1364"/>
          <a:stretch>
            <a:fillRect/>
          </a:stretch>
        </p:blipFill>
        <p:spPr>
          <a:xfrm>
            <a:off x="167154" y="5252330"/>
            <a:ext cx="4139802" cy="1253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36BEB93-9483-8171-6CE5-CDE35993C1FE}"/>
              </a:ext>
            </a:extLst>
          </p:cNvPr>
          <p:cNvCxnSpPr>
            <a:cxnSpLocks/>
          </p:cNvCxnSpPr>
          <p:nvPr/>
        </p:nvCxnSpPr>
        <p:spPr>
          <a:xfrm flipH="1">
            <a:off x="3822264" y="5879147"/>
            <a:ext cx="1227802" cy="92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613936A-E8B8-0362-EF4A-A36C8D17C9B3}"/>
              </a:ext>
            </a:extLst>
          </p:cNvPr>
          <p:cNvSpPr/>
          <p:nvPr/>
        </p:nvSpPr>
        <p:spPr>
          <a:xfrm>
            <a:off x="10542104" y="6169142"/>
            <a:ext cx="967409" cy="3368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AD282F-CBD8-F470-3109-597ADA4B4BBE}"/>
              </a:ext>
            </a:extLst>
          </p:cNvPr>
          <p:cNvSpPr/>
          <p:nvPr/>
        </p:nvSpPr>
        <p:spPr>
          <a:xfrm>
            <a:off x="5035825" y="6182529"/>
            <a:ext cx="1625405" cy="4155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554EA4-4578-DA13-FCF9-3A3C0D68F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95" y="6212673"/>
            <a:ext cx="1564979" cy="31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14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32626D8-3E18-3B24-1362-03360BFCA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903" y="695741"/>
            <a:ext cx="8736356" cy="5692889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647C0931-F1F6-0259-2C05-208C1C27CDFA}"/>
              </a:ext>
            </a:extLst>
          </p:cNvPr>
          <p:cNvGrpSpPr/>
          <p:nvPr/>
        </p:nvGrpSpPr>
        <p:grpSpPr>
          <a:xfrm>
            <a:off x="3592997" y="1744979"/>
            <a:ext cx="3723888" cy="4445235"/>
            <a:chOff x="2456946" y="1554928"/>
            <a:chExt cx="4030287" cy="47752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5095ABE-C94F-8484-5544-D287E2605964}"/>
                </a:ext>
              </a:extLst>
            </p:cNvPr>
            <p:cNvSpPr/>
            <p:nvPr/>
          </p:nvSpPr>
          <p:spPr>
            <a:xfrm>
              <a:off x="2456946" y="1554928"/>
              <a:ext cx="1773635" cy="477526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C24359C-81E8-BBC0-ED21-B8A865195286}"/>
                </a:ext>
              </a:extLst>
            </p:cNvPr>
            <p:cNvSpPr/>
            <p:nvPr/>
          </p:nvSpPr>
          <p:spPr>
            <a:xfrm>
              <a:off x="5301164" y="2594162"/>
              <a:ext cx="1186069" cy="167179"/>
            </a:xfrm>
            <a:prstGeom prst="rect">
              <a:avLst/>
            </a:prstGeom>
            <a:solidFill>
              <a:srgbClr val="F8F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EF32BF14-D864-1A84-1BB8-0E8B597A4536}"/>
              </a:ext>
            </a:extLst>
          </p:cNvPr>
          <p:cNvSpPr txBox="1">
            <a:spLocks/>
          </p:cNvSpPr>
          <p:nvPr/>
        </p:nvSpPr>
        <p:spPr>
          <a:xfrm>
            <a:off x="318054" y="159282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歷史紀錄</a:t>
            </a:r>
            <a:endParaRPr lang="zh-TW" altLang="en-US" dirty="0"/>
          </a:p>
        </p:txBody>
      </p:sp>
      <p:sp>
        <p:nvSpPr>
          <p:cNvPr id="14" name="內容版面配置區 3">
            <a:extLst>
              <a:ext uri="{FF2B5EF4-FFF2-40B4-BE49-F238E27FC236}">
                <a16:creationId xmlns:a16="http://schemas.microsoft.com/office/drawing/2014/main" id="{3B96607A-EBEF-DF8D-CB7D-F363FA226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4" y="817379"/>
            <a:ext cx="2859156" cy="347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600" dirty="0"/>
              <a:t>登入後的各頁面帳號區塊下方</a:t>
            </a:r>
          </a:p>
        </p:txBody>
      </p:sp>
      <p:sp>
        <p:nvSpPr>
          <p:cNvPr id="15" name="內容版面配置區 3">
            <a:extLst>
              <a:ext uri="{FF2B5EF4-FFF2-40B4-BE49-F238E27FC236}">
                <a16:creationId xmlns:a16="http://schemas.microsoft.com/office/drawing/2014/main" id="{58525C88-F0FB-489C-40AD-5BFA198CB541}"/>
              </a:ext>
            </a:extLst>
          </p:cNvPr>
          <p:cNvSpPr txBox="1">
            <a:spLocks/>
          </p:cNvSpPr>
          <p:nvPr/>
        </p:nvSpPr>
        <p:spPr>
          <a:xfrm>
            <a:off x="318054" y="1636918"/>
            <a:ext cx="2859156" cy="1061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600" dirty="0"/>
              <a:t>紀錄原始論文檔名</a:t>
            </a:r>
            <a:endParaRPr lang="en-US" altLang="zh-TW" sz="1600" dirty="0"/>
          </a:p>
          <a:p>
            <a:r>
              <a:rPr lang="zh-TW" altLang="en-US" sz="1600" dirty="0"/>
              <a:t>生成時間</a:t>
            </a:r>
          </a:p>
        </p:txBody>
      </p:sp>
      <p:sp>
        <p:nvSpPr>
          <p:cNvPr id="17" name="內容版面配置區 3">
            <a:extLst>
              <a:ext uri="{FF2B5EF4-FFF2-40B4-BE49-F238E27FC236}">
                <a16:creationId xmlns:a16="http://schemas.microsoft.com/office/drawing/2014/main" id="{E3EFB6E7-821E-85CB-2141-35DB8D382104}"/>
              </a:ext>
            </a:extLst>
          </p:cNvPr>
          <p:cNvSpPr txBox="1">
            <a:spLocks/>
          </p:cNvSpPr>
          <p:nvPr/>
        </p:nvSpPr>
        <p:spPr>
          <a:xfrm>
            <a:off x="310600" y="2854976"/>
            <a:ext cx="3074503" cy="10611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600" dirty="0"/>
              <a:t>點擊一筆紀錄，</a:t>
            </a:r>
            <a:endParaRPr lang="en-US" altLang="zh-TW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600" dirty="0"/>
              <a:t>則另開分頁，</a:t>
            </a:r>
            <a:endParaRPr lang="en-US" altLang="zh-TW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600" dirty="0"/>
              <a:t>顯示該筆紀錄的 </a:t>
            </a:r>
            <a:r>
              <a:rPr lang="en-US" altLang="zh-TW" sz="1600" dirty="0"/>
              <a:t>4</a:t>
            </a:r>
            <a:r>
              <a:rPr lang="zh-TW" altLang="en-US" sz="1600" dirty="0"/>
              <a:t> 研究提案 頁面</a:t>
            </a:r>
          </a:p>
        </p:txBody>
      </p:sp>
    </p:spTree>
    <p:extLst>
      <p:ext uri="{BB962C8B-B14F-4D97-AF65-F5344CB8AC3E}">
        <p14:creationId xmlns:p14="http://schemas.microsoft.com/office/powerpoint/2010/main" val="2673787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C278A4-78CC-4D97-E9DD-68E2F67EA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821" y="387349"/>
            <a:ext cx="3934827" cy="132556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8B23369-2854-5930-6A4D-E1FC9A882228}"/>
              </a:ext>
            </a:extLst>
          </p:cNvPr>
          <p:cNvSpPr txBox="1"/>
          <p:nvPr/>
        </p:nvSpPr>
        <p:spPr>
          <a:xfrm>
            <a:off x="748821" y="1944244"/>
            <a:ext cx="100658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生成完成後，進入 研究提案 頁面時，才生成新的歷史紀錄顯示在歷史紀錄區塊最上方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滑鼠移至各項歷史紀錄時加入 </a:t>
            </a:r>
            <a:r>
              <a:rPr lang="en-US" altLang="zh-TW" sz="1600" dirty="0"/>
              <a:t>hover</a:t>
            </a:r>
            <a:r>
              <a:rPr lang="zh-TW" altLang="en-US" sz="1600" dirty="0"/>
              <a:t> 狀態，</a:t>
            </a:r>
            <a:r>
              <a:rPr lang="zh-TW" altLang="en-US" dirty="0"/>
              <a:t>右上角顯示刪除按鈕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點擊刪除按鈕跳出確認彈窗，若正在生成提案，背景繼續生成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點擊</a:t>
            </a:r>
            <a:r>
              <a:rPr lang="en-US" altLang="zh-TW" dirty="0"/>
              <a:t>[</a:t>
            </a:r>
            <a:r>
              <a:rPr lang="zh-TW" altLang="en-US" dirty="0"/>
              <a:t>取消</a:t>
            </a:r>
            <a:r>
              <a:rPr lang="en-US" altLang="zh-TW" dirty="0"/>
              <a:t>]</a:t>
            </a:r>
            <a:r>
              <a:rPr lang="zh-TW" altLang="en-US" dirty="0"/>
              <a:t>關閉彈窗回到原本畫面，點擊</a:t>
            </a:r>
            <a:r>
              <a:rPr lang="en-US" altLang="zh-TW" dirty="0"/>
              <a:t>[</a:t>
            </a:r>
            <a:r>
              <a:rPr lang="zh-TW" altLang="en-US" dirty="0"/>
              <a:t>確定刪除</a:t>
            </a:r>
            <a:r>
              <a:rPr lang="en-US" altLang="zh-TW" dirty="0"/>
              <a:t>]</a:t>
            </a:r>
            <a:r>
              <a:rPr lang="zh-TW" altLang="en-US" dirty="0"/>
              <a:t>刪除該項歷史紀錄，回到原本畫面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83E624-7C5D-018C-B2AB-7CC6E0DAE00E}"/>
              </a:ext>
            </a:extLst>
          </p:cNvPr>
          <p:cNvSpPr/>
          <p:nvPr/>
        </p:nvSpPr>
        <p:spPr>
          <a:xfrm>
            <a:off x="4170267" y="798143"/>
            <a:ext cx="401101" cy="273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0554D71-7893-EA86-5BAE-A0D3857B51FA}"/>
              </a:ext>
            </a:extLst>
          </p:cNvPr>
          <p:cNvSpPr txBox="1"/>
          <p:nvPr/>
        </p:nvSpPr>
        <p:spPr>
          <a:xfrm>
            <a:off x="4615097" y="840453"/>
            <a:ext cx="1865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刪除按鈕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457046D-8FF7-5FA0-25A7-EF6B2AA95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18" y="3390794"/>
            <a:ext cx="3337849" cy="195088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87B5B0-43B0-88E9-3FCA-2594726728CC}"/>
              </a:ext>
            </a:extLst>
          </p:cNvPr>
          <p:cNvSpPr txBox="1"/>
          <p:nvPr/>
        </p:nvSpPr>
        <p:spPr>
          <a:xfrm>
            <a:off x="1491557" y="5341683"/>
            <a:ext cx="2449354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/>
              <a:t>(</a:t>
            </a:r>
            <a:r>
              <a:rPr lang="zh-TW" altLang="en-US" sz="1400"/>
              <a:t>彈窗，背景全屏灰色遮罩</a:t>
            </a:r>
            <a:r>
              <a:rPr lang="en-US" altLang="zh-TW" sz="1400"/>
              <a:t>)</a:t>
            </a:r>
            <a:r>
              <a:rPr lang="zh-TW" altLang="en-US" sz="1400"/>
              <a:t> 　</a:t>
            </a:r>
            <a:endParaRPr lang="zh-TW" altLang="en-US" sz="1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676D85-70B7-70DD-C446-77C090B288E9}"/>
              </a:ext>
            </a:extLst>
          </p:cNvPr>
          <p:cNvSpPr txBox="1"/>
          <p:nvPr/>
        </p:nvSpPr>
        <p:spPr>
          <a:xfrm>
            <a:off x="4370817" y="3844877"/>
            <a:ext cx="4370900" cy="521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zh-TW" altLang="zh-TW" sz="1275" b="1" i="0" dirty="0">
                <a:solidFill>
                  <a:srgbClr val="1A1A18"/>
                </a:solidFill>
                <a:effectLst/>
                <a:latin typeface="-apple-system"/>
              </a:rPr>
              <a:t>刪除歷史紀錄</a:t>
            </a:r>
          </a:p>
          <a:p>
            <a:pPr marL="0" marR="0" indent="0" algn="ctr">
              <a:buNone/>
            </a:pPr>
            <a:r>
              <a:rPr lang="zh-TW" altLang="zh-TW" sz="1013" b="0" i="0" dirty="0">
                <a:solidFill>
                  <a:srgbClr val="888888"/>
                </a:solidFill>
                <a:effectLst/>
                <a:latin typeface="-apple-system"/>
              </a:rPr>
              <a:t>確定要刪除「失智症遠距照護研究」這筆歷史紀錄嗎？此動作無法復原。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6140C8-7812-6997-9FA0-47FF25B1B74C}"/>
              </a:ext>
            </a:extLst>
          </p:cNvPr>
          <p:cNvSpPr/>
          <p:nvPr/>
        </p:nvSpPr>
        <p:spPr>
          <a:xfrm>
            <a:off x="5132236" y="4081014"/>
            <a:ext cx="1406068" cy="273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89E8D91-02CD-4726-B722-83F2F55B1CC8}"/>
              </a:ext>
            </a:extLst>
          </p:cNvPr>
          <p:cNvSpPr txBox="1"/>
          <p:nvPr/>
        </p:nvSpPr>
        <p:spPr>
          <a:xfrm>
            <a:off x="5132236" y="4366238"/>
            <a:ext cx="1865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顯示選中的歷史紀錄標題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06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3EF11A80-C7F9-56A3-D8C3-C803E14E0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100412"/>
            <a:ext cx="9936480" cy="46865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8693D63-800F-E87D-BFE4-48AD1AB3B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4489" y="5833084"/>
            <a:ext cx="2999598" cy="7132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4244874-37F1-9CF3-5B6C-928A1F0AC1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17"/>
          <a:stretch>
            <a:fillRect/>
          </a:stretch>
        </p:blipFill>
        <p:spPr>
          <a:xfrm>
            <a:off x="3882128" y="5958243"/>
            <a:ext cx="2572229" cy="58808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4849E23-6BC3-4978-A15D-ECC6AFE334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7972"/>
          <a:stretch>
            <a:fillRect/>
          </a:stretch>
        </p:blipFill>
        <p:spPr>
          <a:xfrm>
            <a:off x="6682398" y="5823960"/>
            <a:ext cx="2999598" cy="72236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04EEB20-572B-1E99-DA96-677DB5D7FEEF}"/>
              </a:ext>
            </a:extLst>
          </p:cNvPr>
          <p:cNvSpPr/>
          <p:nvPr/>
        </p:nvSpPr>
        <p:spPr>
          <a:xfrm>
            <a:off x="8557260" y="1100412"/>
            <a:ext cx="1851660" cy="5029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A098C5A-B5C5-B37C-DEC0-306A37FE3A31}"/>
              </a:ext>
            </a:extLst>
          </p:cNvPr>
          <p:cNvSpPr txBox="1"/>
          <p:nvPr/>
        </p:nvSpPr>
        <p:spPr>
          <a:xfrm>
            <a:off x="1476108" y="100718"/>
            <a:ext cx="1191006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出現在畫面右上方，五秒後消失，若同時出現兩則以上訊息，舊的訊息下移，新的訊息出現在原本位置</a:t>
            </a:r>
            <a:endParaRPr lang="en-US" altLang="zh-TW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只有上傳</a:t>
            </a:r>
            <a:r>
              <a:rPr lang="en-US" altLang="zh-TW" dirty="0"/>
              <a:t>PDF</a:t>
            </a:r>
            <a:r>
              <a:rPr lang="zh-TW" altLang="en-US" dirty="0"/>
              <a:t>時的錯誤訊息出現在上傳欄位裡，其他所有訊息都出現在右上角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43D916F-2EE0-94C6-B64F-C05F3BA4C984}"/>
              </a:ext>
            </a:extLst>
          </p:cNvPr>
          <p:cNvSpPr txBox="1"/>
          <p:nvPr/>
        </p:nvSpPr>
        <p:spPr>
          <a:xfrm>
            <a:off x="99060" y="5463752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訊息分為</a:t>
            </a:r>
            <a:r>
              <a:rPr lang="en-US" altLang="zh-TW" dirty="0"/>
              <a:t>`success` </a:t>
            </a:r>
            <a:r>
              <a:rPr lang="zh-TW" altLang="en-US" dirty="0"/>
              <a:t>、</a:t>
            </a:r>
            <a:r>
              <a:rPr lang="en-US" altLang="zh-TW" dirty="0"/>
              <a:t> `warning` </a:t>
            </a:r>
            <a:r>
              <a:rPr lang="zh-TW" altLang="en-US" dirty="0"/>
              <a:t>、</a:t>
            </a:r>
            <a:r>
              <a:rPr lang="en-US" altLang="zh-TW" dirty="0"/>
              <a:t> `info`</a:t>
            </a:r>
            <a:r>
              <a:rPr lang="zh-TW" altLang="en-US" dirty="0"/>
              <a:t> 三種類型</a:t>
            </a:r>
            <a:r>
              <a:rPr lang="en-US" altLang="zh-TW" dirty="0"/>
              <a:t> </a:t>
            </a:r>
            <a:r>
              <a:rPr lang="zh-TW" altLang="en-US" dirty="0"/>
              <a:t>，樣式如下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497065B-3411-B20C-7DB9-BC44CFEC2953}"/>
              </a:ext>
            </a:extLst>
          </p:cNvPr>
          <p:cNvSpPr txBox="1"/>
          <p:nvPr/>
        </p:nvSpPr>
        <p:spPr>
          <a:xfrm>
            <a:off x="1476108" y="6534388"/>
            <a:ext cx="135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`success` 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B8FF7C0-9F07-59DE-9624-E1A1B07E3166}"/>
              </a:ext>
            </a:extLst>
          </p:cNvPr>
          <p:cNvSpPr txBox="1"/>
          <p:nvPr/>
        </p:nvSpPr>
        <p:spPr>
          <a:xfrm>
            <a:off x="4480498" y="6517854"/>
            <a:ext cx="1615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`</a:t>
            </a:r>
            <a:r>
              <a:rPr lang="en-US" altLang="zh-TW" dirty="0"/>
              <a:t> warning </a:t>
            </a:r>
            <a:r>
              <a:rPr lang="en-US" altLang="zh-TW" sz="1800" dirty="0"/>
              <a:t>` 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652813E-34EB-91DA-465B-C7A436A3D6E3}"/>
              </a:ext>
            </a:extLst>
          </p:cNvPr>
          <p:cNvSpPr txBox="1"/>
          <p:nvPr/>
        </p:nvSpPr>
        <p:spPr>
          <a:xfrm>
            <a:off x="7818120" y="6537198"/>
            <a:ext cx="1211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`info`</a:t>
            </a:r>
            <a:endParaRPr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30D3C3-7FAC-8E82-F3F2-179BE14CFA39}"/>
              </a:ext>
            </a:extLst>
          </p:cNvPr>
          <p:cNvSpPr/>
          <p:nvPr/>
        </p:nvSpPr>
        <p:spPr>
          <a:xfrm>
            <a:off x="9944100" y="5350730"/>
            <a:ext cx="487680" cy="436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69C3378-0446-E9F0-AFDE-873D0429EDF9}"/>
              </a:ext>
            </a:extLst>
          </p:cNvPr>
          <p:cNvSpPr txBox="1"/>
          <p:nvPr/>
        </p:nvSpPr>
        <p:spPr>
          <a:xfrm>
            <a:off x="10115777" y="5786917"/>
            <a:ext cx="1977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點擊各畫面右下角都有的本按鈕可查看錯誤畫面</a:t>
            </a:r>
            <a:endParaRPr lang="en-US" altLang="zh-TW" sz="1200" dirty="0">
              <a:solidFill>
                <a:srgbClr val="FF0000"/>
              </a:solidFill>
            </a:endParaRPr>
          </a:p>
          <a:p>
            <a:r>
              <a:rPr lang="en-US" altLang="zh-TW" sz="1200" dirty="0">
                <a:solidFill>
                  <a:srgbClr val="FF0000"/>
                </a:solidFill>
              </a:rPr>
              <a:t>(</a:t>
            </a:r>
            <a:r>
              <a:rPr lang="zh-TW" altLang="en-US" sz="1200" dirty="0">
                <a:solidFill>
                  <a:srgbClr val="FF0000"/>
                </a:solidFill>
              </a:rPr>
              <a:t>開發用</a:t>
            </a:r>
            <a:r>
              <a:rPr lang="en-US" altLang="zh-TW" sz="1200" dirty="0">
                <a:solidFill>
                  <a:srgbClr val="FF0000"/>
                </a:solidFill>
              </a:rPr>
              <a:t>)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31" name="標題 1">
            <a:extLst>
              <a:ext uri="{FF2B5EF4-FFF2-40B4-BE49-F238E27FC236}">
                <a16:creationId xmlns:a16="http://schemas.microsoft.com/office/drawing/2014/main" id="{4CBBAA7F-9974-2554-DD4B-0BDD12F42701}"/>
              </a:ext>
            </a:extLst>
          </p:cNvPr>
          <p:cNvSpPr txBox="1">
            <a:spLocks/>
          </p:cNvSpPr>
          <p:nvPr/>
        </p:nvSpPr>
        <p:spPr>
          <a:xfrm>
            <a:off x="198120" y="-310360"/>
            <a:ext cx="1851660" cy="169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solidFill>
                  <a:schemeClr val="accent1">
                    <a:lumMod val="75000"/>
                  </a:schemeClr>
                </a:solidFill>
              </a:rPr>
              <a:t>彈出</a:t>
            </a:r>
            <a:endParaRPr lang="en-US" altLang="zh-TW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TW" altLang="en-US" sz="3200" dirty="0">
                <a:solidFill>
                  <a:schemeClr val="accent1">
                    <a:lumMod val="75000"/>
                  </a:schemeClr>
                </a:solidFill>
              </a:rPr>
              <a:t>訊息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3519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EFCF57A-A261-E57B-BD78-B13705D6D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13475"/>
              </p:ext>
            </p:extLst>
          </p:nvPr>
        </p:nvGraphicFramePr>
        <p:xfrm>
          <a:off x="1142442" y="59438"/>
          <a:ext cx="10683240" cy="6739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76724712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133508391"/>
                    </a:ext>
                  </a:extLst>
                </a:gridCol>
                <a:gridCol w="3312528">
                  <a:extLst>
                    <a:ext uri="{9D8B030D-6E8A-4147-A177-3AD203B41FA5}">
                      <a16:colId xmlns:a16="http://schemas.microsoft.com/office/drawing/2014/main" val="450660835"/>
                    </a:ext>
                  </a:extLst>
                </a:gridCol>
                <a:gridCol w="4993272">
                  <a:extLst>
                    <a:ext uri="{9D8B030D-6E8A-4147-A177-3AD203B41FA5}">
                      <a16:colId xmlns:a16="http://schemas.microsoft.com/office/drawing/2014/main" val="925595708"/>
                    </a:ext>
                  </a:extLst>
                </a:gridCol>
              </a:tblGrid>
              <a:tr h="3368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oto Sans TC"/>
                          <a:ea typeface="Noto Sans TC"/>
                          <a:cs typeface="+mn-cs"/>
                        </a:rPr>
                        <a:t>編號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oto Sans TC"/>
                        <a:ea typeface="Noto Sans TC"/>
                        <a:cs typeface="+mn-cs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oto Sans TC"/>
                          <a:ea typeface="Noto Sans TC"/>
                          <a:cs typeface="+mn-cs"/>
                        </a:rPr>
                        <a:t>類型 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oto Sans TC"/>
                        <a:ea typeface="Noto Sans TC"/>
                        <a:cs typeface="+mn-cs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oto Sans TC"/>
                          <a:ea typeface="Noto Sans TC"/>
                          <a:cs typeface="+mn-cs"/>
                        </a:rPr>
                        <a:t>訊息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oto Sans TC"/>
                        <a:ea typeface="Noto Sans TC"/>
                        <a:cs typeface="+mn-cs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oto Sans TC"/>
                          <a:ea typeface="Noto Sans TC"/>
                          <a:cs typeface="+mn-cs"/>
                        </a:rPr>
                        <a:t>出現時機 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oto Sans TC"/>
                        <a:ea typeface="Noto Sans TC"/>
                        <a:cs typeface="+mn-cs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344611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45720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`success`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您已成功登出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登出成功時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49109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45720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`success`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歡迎回來，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{</a:t>
                      </a:r>
                      <a:r>
                        <a:rPr lang="en-US" alt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Google</a:t>
                      </a:r>
                      <a:r>
                        <a:rPr lang="zh-TW" altLang="en-US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帳號名稱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}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！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登入成功時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192887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45720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`success`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儲值成功！已存入 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</a:rPr>
                        <a:t>{N}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點數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</a:rPr>
                        <a:t>LINE Pay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付款完成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44183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45720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`success`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已成功載入歷史紀錄：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{標題}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點擊歷史紀錄項目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211839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45720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`success`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研究提案已成功生成！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生成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中結束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，進入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研究提案頁面時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</a:rPr>
                        <a:t> 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483968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45720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`success` 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提案已複製到剪貼簿！ 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複製提案成功 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70603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lang="zh-TW" altLang="zh-TW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45720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`warning`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請先登入帳戶！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論文上傳頁面，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未登入時點擊「繼續設定條件」或「開始生成」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34556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45720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`warning`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請先上傳核心論文 PDF！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論文上傳頁面，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已登入但尚未上傳論文，點擊「繼續設定條件」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584391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45720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`warning`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請先選擇學科領域！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論文上傳頁面，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已登入但尚未</a:t>
                      </a:r>
                      <a:r>
                        <a:rPr lang="zh-TW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選擇學科領域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，點擊「繼續設定條件」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02971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45720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`warning`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餘額點數不足，請先儲值！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設定條件頁面，</a:t>
                      </a:r>
                      <a:r>
                        <a:rPr lang="zh-TW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點擊「開始生成」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但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點數不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足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本次生成花費時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886361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45720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`warning`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複製失敗，請手動選取文字複製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研究提案頁面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複製提案失敗，例如瀏覽器阻擋權限 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97418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12</a:t>
                      </a:r>
                    </a:p>
                  </a:txBody>
                  <a:tcPr marL="45720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`warning` 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很抱歉，出現未知錯誤，請再試一次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在各頁面出現未定義的錯誤時顯示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813198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marL="45720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扣除 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</a:rPr>
                        <a:t>{N}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點，開始分析生成研究提案...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設定條件頁面 點擊</a:t>
                      </a:r>
                      <a:r>
                        <a:rPr lang="zh-TW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開始生成</a:t>
                      </a:r>
                      <a:r>
                        <a:rPr lang="zh-TW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」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，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成功開始生成流程、扣點當下 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204278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L="45720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已退還 </a:t>
                      </a:r>
                      <a:r>
                        <a:rPr lang="zh-TW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</a:rPr>
                        <a:t>{N}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點，返回設定頁面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3.1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生成失敗頁面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點擊「返回設定」按鈕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581621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15</a:t>
                      </a:r>
                    </a:p>
                  </a:txBody>
                  <a:tcPr marL="45720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已重設狀態，請上傳新論文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研究提案頁面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點擊「分析另一篇」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289955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16</a:t>
                      </a:r>
                    </a:p>
                  </a:txBody>
                  <a:tcPr marL="45720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已建立儲值訂單，即將進行支付...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 帳號與儲值區塊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點擊「儲值」開啟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</a:rPr>
                        <a:t>LINE Pay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視窗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47579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17</a:t>
                      </a:r>
                    </a:p>
                  </a:txBody>
                  <a:tcPr marL="45720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歷史紀錄已刪除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 刪除歷史紀錄彈窗，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擊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「確定刪除」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，歷史紀錄刪除時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62008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18</a:t>
                      </a:r>
                    </a:p>
                  </a:txBody>
                  <a:tcPr marL="45720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已收到您的回饋，我們將持續優化生成品質！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研究提案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展開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點擊「沒幫助」按鈕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208022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9</a:t>
                      </a: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45720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zh-TW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`info` </a:t>
                      </a: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感謝您的回饋！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在 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研究提案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展開 </a:t>
                      </a:r>
                      <a:r>
                        <a:rPr 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點擊「有幫助」按鈕 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39140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3B98B0B7-6E0F-AD32-9DD3-1527B3DB5C63}"/>
              </a:ext>
            </a:extLst>
          </p:cNvPr>
          <p:cNvSpPr txBox="1"/>
          <p:nvPr/>
        </p:nvSpPr>
        <p:spPr>
          <a:xfrm>
            <a:off x="89268" y="217408"/>
            <a:ext cx="964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共</a:t>
            </a:r>
            <a:r>
              <a:rPr lang="en-US" altLang="zh-TW" dirty="0"/>
              <a:t>19</a:t>
            </a:r>
            <a:r>
              <a:rPr lang="zh-TW" altLang="en-US" dirty="0"/>
              <a:t>則</a:t>
            </a:r>
            <a:r>
              <a:rPr lang="en-US" altLang="zh-TW" sz="1800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6470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52BA055-8C84-E652-8328-77C456C476A1}"/>
              </a:ext>
            </a:extLst>
          </p:cNvPr>
          <p:cNvSpPr txBox="1"/>
          <p:nvPr/>
        </p:nvSpPr>
        <p:spPr>
          <a:xfrm>
            <a:off x="942671" y="2260058"/>
            <a:ext cx="8428383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dirty="0"/>
              <a:t>點擊首頁開始按鈕：</a:t>
            </a:r>
            <a:r>
              <a:rPr lang="zh-TW" altLang="zh-TW" sz="1600" dirty="0"/>
              <a:t>訪客在首頁點擊「開始使用」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：次數</a:t>
            </a:r>
            <a:r>
              <a:rPr lang="zh-TW" altLang="zh-TW" sz="1600" dirty="0"/>
              <a:t>。</a:t>
            </a:r>
            <a:endParaRPr lang="en-US" altLang="zh-TW" sz="1600" dirty="0"/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/>
              <a:t>進入論文上傳頁：</a:t>
            </a:r>
            <a:r>
              <a:rPr lang="zh-TW" altLang="en-US" sz="1600" dirty="0"/>
              <a:t>次數。</a:t>
            </a:r>
            <a:endParaRPr lang="zh-TW" altLang="zh-TW" sz="1600" dirty="0"/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dirty="0"/>
              <a:t>開始登入：</a:t>
            </a:r>
            <a:r>
              <a:rPr lang="zh-TW" altLang="zh-TW" sz="1600" dirty="0"/>
              <a:t> 點擊 Google 登入，開啟帳戶選擇視窗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：次數</a:t>
            </a:r>
            <a:r>
              <a:rPr lang="zh-TW" altLang="zh-TW" sz="1600" dirty="0"/>
              <a:t>。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dirty="0"/>
              <a:t>登入/註冊成功：</a:t>
            </a:r>
            <a:r>
              <a:rPr lang="zh-TW" altLang="zh-TW" sz="1600" dirty="0"/>
              <a:t>完成 Google 驗證並成功進入系統。（須紀錄次數和帳號）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：次數</a:t>
            </a:r>
            <a:endParaRPr lang="zh-TW" altLang="zh-TW" sz="1600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068DABBA-B4AF-AB82-F26B-D69C15113FB2}"/>
              </a:ext>
            </a:extLst>
          </p:cNvPr>
          <p:cNvSpPr txBox="1">
            <a:spLocks/>
          </p:cNvSpPr>
          <p:nvPr/>
        </p:nvSpPr>
        <p:spPr>
          <a:xfrm>
            <a:off x="324678" y="338187"/>
            <a:ext cx="6549886" cy="77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需記錄的分析用資料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A6BA77-9B7A-C685-F036-AD3BAB6FA82C}"/>
              </a:ext>
            </a:extLst>
          </p:cNvPr>
          <p:cNvSpPr txBox="1"/>
          <p:nvPr/>
        </p:nvSpPr>
        <p:spPr>
          <a:xfrm>
            <a:off x="863158" y="165989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1. 帳戶 </a:t>
            </a:r>
            <a:endParaRPr lang="zh-TW" altLang="zh-TW" b="0" dirty="0">
              <a:solidFill>
                <a:schemeClr val="accent3"/>
              </a:solidFill>
              <a:effectLst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1F14C51-BD3F-6E9F-B09A-DECE1A7338A9}"/>
              </a:ext>
            </a:extLst>
          </p:cNvPr>
          <p:cNvSpPr txBox="1"/>
          <p:nvPr/>
        </p:nvSpPr>
        <p:spPr>
          <a:xfrm>
            <a:off x="863158" y="38690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點數儲值 </a:t>
            </a:r>
            <a:endParaRPr lang="zh-TW" altLang="zh-TW" b="0" dirty="0">
              <a:solidFill>
                <a:schemeClr val="accent3"/>
              </a:solidFill>
              <a:effectLst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1AD9ACD-0F71-2E5F-A839-7085BABAF8B2}"/>
              </a:ext>
            </a:extLst>
          </p:cNvPr>
          <p:cNvSpPr txBox="1"/>
          <p:nvPr/>
        </p:nvSpPr>
        <p:spPr>
          <a:xfrm>
            <a:off x="942671" y="4459256"/>
            <a:ext cx="88043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前往付款頁面：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在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儲值區塊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點擊「確認付款（前往 LINE Pay）」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：次數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付款成功：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付款完成，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跳出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交易成功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通知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：次數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860799E-BDE7-D526-900A-DECF5A9C000F}"/>
              </a:ext>
            </a:extLst>
          </p:cNvPr>
          <p:cNvSpPr txBox="1"/>
          <p:nvPr/>
        </p:nvSpPr>
        <p:spPr>
          <a:xfrm>
            <a:off x="863158" y="541881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3. 論文上傳與</a:t>
            </a:r>
            <a:r>
              <a:rPr lang="zh-TW" altLang="en-US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使用</a:t>
            </a: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偏好</a:t>
            </a:r>
            <a:endParaRPr lang="zh-TW" altLang="zh-TW" b="0" dirty="0">
              <a:solidFill>
                <a:schemeClr val="accent3"/>
              </a:solidFill>
              <a:effectLst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0C39ED4-95F2-2DF7-077B-D98D0EB6C6AF}"/>
              </a:ext>
            </a:extLst>
          </p:cNvPr>
          <p:cNvSpPr txBox="1"/>
          <p:nvPr/>
        </p:nvSpPr>
        <p:spPr>
          <a:xfrm>
            <a:off x="869783" y="5951972"/>
            <a:ext cx="76968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論文上傳：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拖放或選取 PDF 論文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（成功、失敗次數）。</a:t>
            </a:r>
          </a:p>
          <a:p>
            <a:pPr marL="285750" indent="-2857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生成套餐偏好：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「簡易 / 一般」快速選擇套餐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：各規格選擇次數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47145D-72CF-0108-1E99-1EBFEA450C8C}"/>
              </a:ext>
            </a:extLst>
          </p:cNvPr>
          <p:cNvSpPr txBox="1"/>
          <p:nvPr/>
        </p:nvSpPr>
        <p:spPr>
          <a:xfrm>
            <a:off x="664815" y="1189694"/>
            <a:ext cx="11009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zh-TW" altLang="en-US" sz="1600" b="1" dirty="0"/>
              <a:t>除了記錄每次生成時所選擇的文章名稱（非檔名）、選擇的領域、規格之外，還需埋設ＧＴＭ追蹤以下項目</a:t>
            </a:r>
            <a:r>
              <a:rPr lang="zh-TW" altLang="zh-TW" sz="16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30716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F07B644-B921-09EB-7170-C3CF2D87189E}"/>
              </a:ext>
            </a:extLst>
          </p:cNvPr>
          <p:cNvSpPr txBox="1"/>
          <p:nvPr/>
        </p:nvSpPr>
        <p:spPr>
          <a:xfrm>
            <a:off x="748747" y="4714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4. 生成</a:t>
            </a:r>
            <a:r>
              <a:rPr lang="zh-TW" altLang="en-US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與生成結果</a:t>
            </a:r>
            <a:endParaRPr lang="zh-TW" altLang="en-US" dirty="0">
              <a:solidFill>
                <a:schemeClr val="accent3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429B96-5C84-F063-017E-C239C6294ADA}"/>
              </a:ext>
            </a:extLst>
          </p:cNvPr>
          <p:cNvSpPr txBox="1"/>
          <p:nvPr/>
        </p:nvSpPr>
        <p:spPr>
          <a:xfrm>
            <a:off x="960782" y="1062817"/>
            <a:ext cx="6096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點選「開始生成」按鈕</a:t>
            </a:r>
            <a:r>
              <a:rPr lang="zh-TW" altLang="en-US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：次數</a:t>
            </a: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TW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生成</a:t>
            </a:r>
            <a:r>
              <a:rPr lang="zh-TW" alt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過程中</a:t>
            </a: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網頁關閉或斷線等情形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：次數</a:t>
            </a:r>
            <a:r>
              <a:rPr lang="zh-TW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en-US" altLang="zh-TW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進入結果頁：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次數、比例、用時</a:t>
            </a:r>
            <a:r>
              <a:rPr lang="zh-TW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96553C-1695-A312-EEB8-86797411A028}"/>
              </a:ext>
            </a:extLst>
          </p:cNvPr>
          <p:cNvSpPr txBox="1"/>
          <p:nvPr/>
        </p:nvSpPr>
        <p:spPr>
          <a:xfrm>
            <a:off x="748747" y="26253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2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5. 提案結果互動</a:t>
            </a:r>
            <a:endParaRPr lang="zh-TW" altLang="en-US" dirty="0">
              <a:solidFill>
                <a:schemeClr val="accent3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61656A-547A-0F68-3D3D-87219581D5EC}"/>
              </a:ext>
            </a:extLst>
          </p:cNvPr>
          <p:cNvSpPr txBox="1"/>
          <p:nvPr/>
        </p:nvSpPr>
        <p:spPr>
          <a:xfrm>
            <a:off x="960782" y="3286805"/>
            <a:ext cx="1099517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生成提案後在研究提案頁的</a:t>
            </a: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停留時間</a:t>
            </a:r>
            <a:r>
              <a:rPr lang="zh-TW" alt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TW" altLang="en-US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平均值。</a:t>
            </a:r>
            <a:endParaRPr lang="zh-TW" altLang="zh-TW" sz="1600" dirty="0">
              <a:effectLst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點選「複製提案」按鈕：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次數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zh-TW" altLang="zh-TW" sz="1600" b="0" dirty="0">
              <a:effectLst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使用者評價按鈕</a:t>
            </a:r>
            <a:r>
              <a:rPr lang="en-US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點選提案卡片下方的「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有幫助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」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沒幫助 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」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別的總次數</a:t>
            </a:r>
            <a:r>
              <a:rPr lang="zh-TW" altLang="zh-TW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TW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使用者評價按鈕</a:t>
            </a:r>
            <a:r>
              <a:rPr lang="en-US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TW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各順位提案的 有幫助</a:t>
            </a:r>
            <a:r>
              <a:rPr lang="en-US" altLang="zh-TW" sz="160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沒幫助 按鈕點擊次數</a:t>
            </a:r>
            <a:endParaRPr lang="zh-TW" altLang="zh-TW" sz="1600" b="0" dirty="0">
              <a:effectLst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歷史紀錄載入：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次數</a:t>
            </a:r>
            <a:endParaRPr lang="en-US" altLang="zh-TW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點擊最下方「</a:t>
            </a:r>
            <a:r>
              <a:rPr lang="zh-TW" alt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分析另一篇</a:t>
            </a:r>
            <a:r>
              <a:rPr lang="zh-TW" altLang="zh-TW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」按鈕</a:t>
            </a:r>
            <a:r>
              <a:rPr lang="zh-TW" altLang="zh-TW" sz="1600" b="1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TW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次數</a:t>
            </a:r>
            <a:r>
              <a:rPr lang="zh-TW" altLang="zh-TW" sz="1600" dirty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6879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TC">
      <a:majorFont>
        <a:latin typeface="Noto Sans TC"/>
        <a:ea typeface="Noto Sans TC"/>
        <a:cs typeface=""/>
      </a:majorFont>
      <a:minorFont>
        <a:latin typeface="Noto Sans TC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2396</Words>
  <Application>Microsoft Office PowerPoint</Application>
  <PresentationFormat>寬螢幕</PresentationFormat>
  <Paragraphs>310</Paragraphs>
  <Slides>22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-apple-system</vt:lpstr>
      <vt:lpstr>Noto Sans TC</vt:lpstr>
      <vt:lpstr>標楷體</vt:lpstr>
      <vt:lpstr>Aptos</vt:lpstr>
      <vt:lpstr>Arial</vt:lpstr>
      <vt:lpstr>Office 佈景主題</vt:lpstr>
      <vt:lpstr>Scholar coach 功能說明</vt:lpstr>
      <vt:lpstr>入口頁</vt:lpstr>
      <vt:lpstr>入口頁下方說明文字</vt:lpstr>
      <vt:lpstr>帳號區塊(登入/註冊帳號)</vt:lpstr>
      <vt:lpstr>帳號區塊(儲值)</vt:lpstr>
      <vt:lpstr>帳號區塊(點數使用紀錄)</vt:lpstr>
      <vt:lpstr>1 上傳論文頁－登入前</vt:lpstr>
      <vt:lpstr>1 上傳論文頁－登入後</vt:lpstr>
      <vt:lpstr>1 上傳論文頁－上傳出現錯誤</vt:lpstr>
      <vt:lpstr>2 設定條件頁面-選擇區塊</vt:lpstr>
      <vt:lpstr>2 設定條件頁面-說明區塊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林孝宜</dc:creator>
  <cp:lastModifiedBy>林孝宜</cp:lastModifiedBy>
  <cp:revision>8</cp:revision>
  <dcterms:created xsi:type="dcterms:W3CDTF">2026-07-08T00:34:36Z</dcterms:created>
  <dcterms:modified xsi:type="dcterms:W3CDTF">2026-07-15T03:15:03Z</dcterms:modified>
</cp:coreProperties>
</file>