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30" r:id="rId2"/>
    <p:sldId id="331" r:id="rId3"/>
    <p:sldId id="283" r:id="rId4"/>
    <p:sldId id="313" r:id="rId5"/>
    <p:sldId id="304" r:id="rId6"/>
    <p:sldId id="318" r:id="rId7"/>
    <p:sldId id="332" r:id="rId8"/>
    <p:sldId id="329" r:id="rId9"/>
    <p:sldId id="263" r:id="rId10"/>
    <p:sldId id="264" r:id="rId11"/>
    <p:sldId id="333" r:id="rId12"/>
    <p:sldId id="341" r:id="rId13"/>
    <p:sldId id="299" r:id="rId14"/>
    <p:sldId id="334" r:id="rId15"/>
    <p:sldId id="288" r:id="rId16"/>
    <p:sldId id="338" r:id="rId17"/>
    <p:sldId id="335" r:id="rId18"/>
    <p:sldId id="33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/>
    <p:restoredTop sz="79660"/>
  </p:normalViewPr>
  <p:slideViewPr>
    <p:cSldViewPr snapToGrid="0" snapToObjects="1">
      <p:cViewPr varScale="1">
        <p:scale>
          <a:sx n="134" d="100"/>
          <a:sy n="134" d="100"/>
        </p:scale>
        <p:origin x="1328" y="17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17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4572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5049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7599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1266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72400" y="914400"/>
            <a:ext cx="1371600" cy="2286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產學合作專案報告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  <a:ea typeface="Microsoft JhengHei"/>
              </a:rPr>
              <a:t>2026 年 3 </a:t>
            </a:r>
            <a:r>
              <a:rPr lang="en-US" sz="1400" dirty="0" err="1">
                <a:solidFill>
                  <a:srgbClr val="94A3B8"/>
                </a:solidFill>
                <a:latin typeface="Calibri"/>
                <a:ea typeface="Microsoft JhengHei"/>
              </a:rPr>
              <a:t>月</a:t>
            </a:r>
            <a:r>
              <a:rPr lang="en-US" sz="1400" dirty="0">
                <a:solidFill>
                  <a:srgbClr val="94A3B8"/>
                </a:solidFill>
                <a:latin typeface="Calibri"/>
                <a:ea typeface="Microsoft JhengHei"/>
              </a:rPr>
              <a:t> 2</a:t>
            </a:r>
            <a:r>
              <a:rPr lang="en-US" altLang="zh-TW" sz="1400" dirty="0">
                <a:solidFill>
                  <a:srgbClr val="94A3B8"/>
                </a:solidFill>
                <a:latin typeface="Calibri"/>
                <a:ea typeface="Microsoft JhengHei"/>
              </a:rPr>
              <a:t>4</a:t>
            </a:r>
            <a:r>
              <a:rPr lang="en-US" sz="1400" dirty="0">
                <a:solidFill>
                  <a:srgbClr val="94A3B8"/>
                </a:solidFill>
                <a:latin typeface="Calibri"/>
                <a:ea typeface="Microsoft JhengHei"/>
              </a:rPr>
              <a:t> 日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400" dirty="0">
                <a:solidFill>
                  <a:srgbClr val="E0F2FE"/>
                </a:solidFill>
                <a:latin typeface="Calibri"/>
                <a:ea typeface="Microsoft JhengHei"/>
              </a:rPr>
              <a:t>國立臺灣師範大學 × 華藝數位股份有限公司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278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00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</a:rPr>
              <a:t>報告大綱</a:t>
            </a:r>
          </a:p>
        </p:txBody>
      </p:sp>
      <p:sp>
        <p:nvSpPr>
          <p:cNvPr id="3" name="AccentLine"/>
          <p:cNvSpPr/>
          <p:nvPr/>
        </p:nvSpPr>
        <p:spPr>
          <a:xfrm>
            <a:off x="0" y="90000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LeftCard"/>
          <p:cNvSpPr/>
          <p:nvPr/>
        </p:nvSpPr>
        <p:spPr>
          <a:xfrm>
            <a:off x="365760" y="1100000"/>
            <a:ext cx="4023360" cy="2946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LeftBar"/>
          <p:cNvSpPr/>
          <p:nvPr/>
        </p:nvSpPr>
        <p:spPr>
          <a:xfrm>
            <a:off x="365760" y="1100000"/>
            <a:ext cx="402336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LeftHeader"/>
          <p:cNvSpPr/>
          <p:nvPr/>
        </p:nvSpPr>
        <p:spPr>
          <a:xfrm>
            <a:off x="548640" y="1250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sz="1600" b="1" dirty="0">
                <a:solidFill>
                  <a:srgbClr val="0891B2"/>
                </a:solidFill>
                <a:latin typeface="Calibri"/>
                <a:ea typeface="Microsoft JhengHei"/>
              </a:rPr>
              <a:t>第一階段：研究驗證</a:t>
            </a:r>
          </a:p>
        </p:txBody>
      </p:sp>
      <p:sp>
        <p:nvSpPr>
          <p:cNvPr id="7" name="LeftDate"/>
          <p:cNvSpPr/>
          <p:nvPr/>
        </p:nvSpPr>
        <p:spPr>
          <a:xfrm>
            <a:off x="548640" y="157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Calibri"/>
                <a:ea typeface="Microsoft JhengHei"/>
              </a:rPr>
              <a:t>2025/8 ~ 2026/1  |  已完成</a:t>
            </a:r>
          </a:p>
        </p:txBody>
      </p:sp>
      <p:sp>
        <p:nvSpPr>
          <p:cNvPr id="8" name="LeftBullets"/>
          <p:cNvSpPr/>
          <p:nvPr/>
        </p:nvSpPr>
        <p:spPr>
          <a:xfrm>
            <a:off x="548640" y="1850000"/>
            <a:ext cx="3657600" cy="1968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●"/>
            </a:pPr>
            <a:r>
              <a:rPr lang="zh-TW" sz="1400" b="1" dirty="0">
                <a:solidFill>
                  <a:srgbClr val="1E293B"/>
                </a:solidFill>
                <a:latin typeface="Calibri"/>
                <a:ea typeface="Microsoft JhengHei"/>
              </a:rPr>
              <a:t>AI 輔助人文社科領域的科學研究</a:t>
            </a:r>
          </a:p>
          <a:p>
            <a:pPr marL="228600" indent="-228600">
              <a:buSzPct val="100000"/>
              <a:buChar char="●"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合作成果：MyNova 研究構想生成系統</a:t>
            </a:r>
          </a:p>
          <a:p>
            <a:pPr marL="228600" indent="-228600">
              <a:buSzPct val="100000"/>
              <a:buChar char="●"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與頂級商業 AI 對比驗證</a:t>
            </a:r>
          </a:p>
          <a:p>
            <a:pPr marL="228600" indent="-228600">
              <a:buSzPct val="100000"/>
              <a:buChar char="●"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資料來源差異化實測</a:t>
            </a:r>
          </a:p>
          <a:p>
            <a:pPr marL="228600" indent="-228600">
              <a:buSzPct val="100000"/>
              <a:buChar char="●"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專家試用與訪談驗證</a:t>
            </a:r>
          </a:p>
        </p:txBody>
      </p:sp>
      <p:sp>
        <p:nvSpPr>
          <p:cNvPr id="9" name="RightCard"/>
          <p:cNvSpPr/>
          <p:nvPr/>
        </p:nvSpPr>
        <p:spPr>
          <a:xfrm>
            <a:off x="4754880" y="1100000"/>
            <a:ext cx="4023360" cy="2946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RightBar"/>
          <p:cNvSpPr/>
          <p:nvPr/>
        </p:nvSpPr>
        <p:spPr>
          <a:xfrm>
            <a:off x="4754880" y="1100000"/>
            <a:ext cx="402336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ightHeader"/>
          <p:cNvSpPr/>
          <p:nvPr/>
        </p:nvSpPr>
        <p:spPr>
          <a:xfrm>
            <a:off x="4937760" y="1250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sz="1600" b="1" dirty="0">
                <a:solidFill>
                  <a:srgbClr val="E8A838"/>
                </a:solidFill>
                <a:latin typeface="Calibri"/>
                <a:ea typeface="Microsoft JhengHei"/>
              </a:rPr>
              <a:t>第二階段：技術落地</a:t>
            </a:r>
          </a:p>
        </p:txBody>
      </p:sp>
      <p:sp>
        <p:nvSpPr>
          <p:cNvPr id="12" name="RightDate"/>
          <p:cNvSpPr/>
          <p:nvPr/>
        </p:nvSpPr>
        <p:spPr>
          <a:xfrm>
            <a:off x="4937760" y="157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4A3B8"/>
                </a:solidFill>
                <a:latin typeface="Calibri"/>
                <a:ea typeface="Microsoft JhengHei"/>
              </a:rPr>
              <a:t>2026/2 ~ 2026/7  |  進行中</a:t>
            </a:r>
          </a:p>
        </p:txBody>
      </p:sp>
      <p:sp>
        <p:nvSpPr>
          <p:cNvPr id="13" name="RightBullets"/>
          <p:cNvSpPr/>
          <p:nvPr/>
        </p:nvSpPr>
        <p:spPr>
          <a:xfrm>
            <a:off x="4937760" y="1850000"/>
            <a:ext cx="3657600" cy="1968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●"/>
            </a:pPr>
            <a:r>
              <a:rPr lang="zh-TW" sz="1400" b="1" dirty="0">
                <a:solidFill>
                  <a:srgbClr val="1E293B"/>
                </a:solidFill>
                <a:latin typeface="Calibri"/>
                <a:ea typeface="Microsoft JhengHei"/>
              </a:rPr>
              <a:t>AI Agent 代理服務技術應用</a:t>
            </a:r>
          </a:p>
          <a:p>
            <a:pPr marL="228600" indent="-228600">
              <a:buSzPct val="100000"/>
              <a:buChar char="●"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AI 智能客服系統</a:t>
            </a:r>
          </a:p>
          <a:p>
            <a:pPr marL="228600" indent="-228600">
              <a:buSzPct val="100000"/>
              <a:buChar char="●"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AI 智能選書與策展推薦</a:t>
            </a:r>
          </a:p>
          <a:p>
            <a:pPr marL="228600" indent="-228600">
              <a:buSzPct val="100000"/>
              <a:buChar char="●"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未來延伸至外部服務場景</a:t>
            </a:r>
          </a:p>
        </p:txBody>
      </p:sp>
      <p:sp>
        <p:nvSpPr>
          <p:cNvPr id="14" name="BottomText"/>
          <p:cNvSpPr/>
          <p:nvPr/>
        </p:nvSpPr>
        <p:spPr>
          <a:xfrm>
            <a:off x="457200" y="41986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sz="1400" dirty="0">
                <a:solidFill>
                  <a:srgbClr val="CBD5E1"/>
                </a:solidFill>
                <a:latin typeface="Calibri"/>
                <a:ea typeface="Microsoft JhengHei"/>
              </a:rPr>
              <a:t>以 MyNova 建立的技術能力，延伸至內部企業應用</a:t>
            </a:r>
          </a:p>
        </p:txBody>
      </p:sp>
      <p:pic>
        <p:nvPicPr>
          <p:cNvPr id="15" name="Graphic 15" descr="研究驗證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1219200"/>
            <a:ext cx="381000" cy="381000"/>
          </a:xfrm>
          <a:prstGeom prst="rect">
            <a:avLst/>
          </a:prstGeom>
        </p:spPr>
      </p:pic>
      <p:pic>
        <p:nvPicPr>
          <p:cNvPr id="16" name="Graphic 16" descr="技術落地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4200" y="12192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4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 </a:t>
            </a:r>
            <a:r>
              <a:rPr lang="zh-TW" alt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輔助科學研究</a:t>
            </a:r>
            <a:endParaRPr lang="en-US" sz="3000" dirty="0"/>
          </a:p>
        </p:txBody>
      </p:sp>
      <p:sp>
        <p:nvSpPr>
          <p:cNvPr id="5" name="Card1Bg"/>
          <p:cNvSpPr/>
          <p:nvPr/>
        </p:nvSpPr>
        <p:spPr>
          <a:xfrm>
            <a:off x="3162300" y="1213394"/>
            <a:ext cx="2692400" cy="3556000"/>
          </a:xfrm>
          <a:prstGeom prst="round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1Bar"/>
          <p:cNvSpPr/>
          <p:nvPr/>
        </p:nvSpPr>
        <p:spPr>
          <a:xfrm>
            <a:off x="3162300" y="1213394"/>
            <a:ext cx="2692400" cy="6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1Text"/>
          <p:cNvSpPr/>
          <p:nvPr/>
        </p:nvSpPr>
        <p:spPr>
          <a:xfrm>
            <a:off x="3289300" y="1276894"/>
            <a:ext cx="2438400" cy="3365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1800"/>
              </a:spcBef>
              <a:spcAft>
                <a:spcPts val="400"/>
              </a:spcAft>
              <a:buNone/>
            </a:pPr>
            <a:r>
              <a:rPr lang="zh-TW" sz="1600" b="1" dirty="0">
                <a:solidFill>
                  <a:srgbClr val="0891B2"/>
                </a:solidFill>
                <a:latin typeface="Calibri"/>
                <a:ea typeface="Microsoft JhengHei"/>
              </a:rPr>
              <a:t>外部市場：藍海機會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zh-TW" sz="1400" dirty="0">
                <a:solidFill>
                  <a:srgbClr val="94A3B8"/>
                </a:solidFill>
                <a:latin typeface="Calibri"/>
                <a:ea typeface="Microsoft JhengHei"/>
              </a:rPr>
              <a:t>─────────</a:t>
            </a:r>
          </a:p>
          <a:p>
            <a:pPr marL="171450" indent="-171450">
              <a:spcBef>
                <a:spcPts val="300"/>
              </a:spcBef>
              <a:spcAft>
                <a:spcPts val="100"/>
              </a:spcAft>
              <a:buFont typeface="Arial"/>
              <a:buChar char="▸"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STEM 工具生態已成熟</a:t>
            </a:r>
          </a:p>
          <a:p>
            <a:pPr marL="171450" indent="-171450">
              <a:spcBef>
                <a:spcPts val="300"/>
              </a:spcBef>
              <a:spcAft>
                <a:spcPts val="100"/>
              </a:spcAft>
              <a:buFont typeface="Arial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/>
                <a:ea typeface="Microsoft JhengHei"/>
              </a:rPr>
              <a:t>Google AI Co-scientist</a:t>
            </a:r>
          </a:p>
          <a:p>
            <a:pPr marL="171450" indent="-171450">
              <a:spcBef>
                <a:spcPts val="300"/>
              </a:spcBef>
              <a:spcAft>
                <a:spcPts val="100"/>
              </a:spcAft>
              <a:buFont typeface="Arial"/>
              <a:buChar char="▸"/>
            </a:pPr>
            <a:r>
              <a:rPr lang="en-US" sz="1400" dirty="0">
                <a:solidFill>
                  <a:srgbClr val="334155"/>
                </a:solidFill>
                <a:latin typeface="Calibri"/>
                <a:ea typeface="Microsoft JhengHei"/>
              </a:rPr>
              <a:t>AI</a:t>
            </a:r>
            <a:r>
              <a:rPr lang="zh-TW" altLang="en-US" sz="1400" dirty="0">
                <a:solidFill>
                  <a:srgbClr val="334155"/>
                </a:solidFill>
                <a:latin typeface="Calibri"/>
                <a:ea typeface="Microsoft JhengHei"/>
              </a:rPr>
              <a:t> </a:t>
            </a:r>
            <a:r>
              <a:rPr lang="en-US" altLang="zh-TW" sz="1400" dirty="0" err="1">
                <a:solidFill>
                  <a:srgbClr val="334155"/>
                </a:solidFill>
                <a:latin typeface="Calibri"/>
                <a:ea typeface="Microsoft JhengHei"/>
              </a:rPr>
              <a:t>Sientist</a:t>
            </a:r>
            <a:r>
              <a:rPr lang="en-US" sz="1400" dirty="0">
                <a:solidFill>
                  <a:srgbClr val="334155"/>
                </a:solidFill>
                <a:latin typeface="Calibri"/>
                <a:ea typeface="Microsoft JhengHei"/>
              </a:rPr>
              <a:t> / Nova</a:t>
            </a:r>
          </a:p>
          <a:p>
            <a:pPr marL="171450" indent="-171450">
              <a:spcBef>
                <a:spcPts val="300"/>
              </a:spcBef>
              <a:spcAft>
                <a:spcPts val="100"/>
              </a:spcAft>
              <a:buFont typeface="Arial"/>
              <a:buChar char="▸"/>
            </a:pPr>
            <a:r>
              <a:rPr lang="en-US" sz="1400" dirty="0" err="1">
                <a:solidFill>
                  <a:srgbClr val="334155"/>
                </a:solidFill>
                <a:latin typeface="Calibri"/>
                <a:ea typeface="Microsoft JhengHei"/>
              </a:rPr>
              <a:t>A</a:t>
            </a:r>
            <a:r>
              <a:rPr lang="en-US" altLang="zh-TW" sz="1400" dirty="0" err="1">
                <a:solidFill>
                  <a:srgbClr val="334155"/>
                </a:solidFill>
                <a:latin typeface="Calibri"/>
                <a:ea typeface="Microsoft JhengHei"/>
              </a:rPr>
              <a:t>utore</a:t>
            </a:r>
            <a:r>
              <a:rPr lang="en-US" sz="1400" dirty="0" err="1">
                <a:solidFill>
                  <a:srgbClr val="334155"/>
                </a:solidFill>
                <a:latin typeface="Calibri"/>
                <a:ea typeface="Microsoft JhengHei"/>
              </a:rPr>
              <a:t>search</a:t>
            </a:r>
            <a:endParaRPr lang="en-US" sz="1400" dirty="0">
              <a:solidFill>
                <a:srgbClr val="334155"/>
              </a:solidFill>
              <a:latin typeface="Calibri"/>
              <a:ea typeface="Microsoft JhengHei"/>
            </a:endParaRPr>
          </a:p>
          <a:p>
            <a:pPr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zh-TW" sz="1400" b="1" dirty="0">
                <a:solidFill>
                  <a:srgbClr val="DC2626"/>
                </a:solidFill>
                <a:latin typeface="Calibri"/>
                <a:ea typeface="Microsoft JhengHei"/>
              </a:rPr>
              <a:t>⚠ HASS 工具：近乎空白</a:t>
            </a:r>
          </a:p>
        </p:txBody>
      </p:sp>
      <p:sp>
        <p:nvSpPr>
          <p:cNvPr id="8" name="Card2Bg"/>
          <p:cNvSpPr/>
          <p:nvPr/>
        </p:nvSpPr>
        <p:spPr>
          <a:xfrm>
            <a:off x="6089468" y="1213394"/>
            <a:ext cx="2692400" cy="3556000"/>
          </a:xfrm>
          <a:prstGeom prst="round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rd2Bar"/>
          <p:cNvSpPr/>
          <p:nvPr/>
        </p:nvSpPr>
        <p:spPr>
          <a:xfrm>
            <a:off x="6089468" y="1213394"/>
            <a:ext cx="2692400" cy="6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2Text"/>
          <p:cNvSpPr/>
          <p:nvPr/>
        </p:nvSpPr>
        <p:spPr>
          <a:xfrm>
            <a:off x="6216468" y="1276894"/>
            <a:ext cx="2438400" cy="3365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1800"/>
              </a:spcBef>
              <a:spcAft>
                <a:spcPts val="400"/>
              </a:spcAft>
              <a:buNone/>
            </a:pPr>
            <a:r>
              <a:rPr lang="zh-TW" sz="1600" b="1" dirty="0">
                <a:solidFill>
                  <a:srgbClr val="0891B2"/>
                </a:solidFill>
                <a:latin typeface="Calibri"/>
                <a:ea typeface="Microsoft JhengHei"/>
              </a:rPr>
              <a:t>內部價值：資源互惠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zh-TW" sz="1400" dirty="0">
                <a:solidFill>
                  <a:srgbClr val="94A3B8"/>
                </a:solidFill>
                <a:latin typeface="Calibri"/>
                <a:ea typeface="Microsoft JhengHei"/>
              </a:rPr>
              <a:t>─────────</a:t>
            </a:r>
          </a:p>
          <a:p>
            <a:pPr marL="171450" indent="-171450">
              <a:spcBef>
                <a:spcPts val="300"/>
              </a:spcBef>
              <a:spcAft>
                <a:spcPts val="100"/>
              </a:spcAft>
              <a:buFont typeface="Arial"/>
              <a:buChar char="▸"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學校承擔 PoC 試錯成本</a:t>
            </a:r>
          </a:p>
          <a:p>
            <a:pPr marL="171450" indent="-171450">
              <a:spcBef>
                <a:spcPts val="300"/>
              </a:spcBef>
              <a:spcAft>
                <a:spcPts val="100"/>
              </a:spcAft>
              <a:buFont typeface="Arial"/>
              <a:buChar char="▸"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取得第一線研究者回饋</a:t>
            </a:r>
          </a:p>
          <a:p>
            <a:pPr marL="171450" indent="-171450">
              <a:spcBef>
                <a:spcPts val="300"/>
              </a:spcBef>
              <a:spcAft>
                <a:spcPts val="100"/>
              </a:spcAft>
              <a:buFont typeface="Arial"/>
              <a:buChar char="▸"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建立長期產學合作管道</a:t>
            </a:r>
          </a:p>
          <a:p>
            <a:pPr marL="171450" indent="-171450">
              <a:spcBef>
                <a:spcPts val="300"/>
              </a:spcBef>
              <a:spcAft>
                <a:spcPts val="100"/>
              </a:spcAft>
              <a:buFont typeface="Arial"/>
              <a:buChar char="▸"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累積 HASS 領域 AI 案例</a:t>
            </a:r>
          </a:p>
          <a:p>
            <a:pPr marL="171450" indent="-171450">
              <a:spcBef>
                <a:spcPts val="300"/>
              </a:spcBef>
              <a:spcAft>
                <a:spcPts val="100"/>
              </a:spcAft>
              <a:buFont typeface="Arial"/>
              <a:buChar char="▸"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強化華藝學術品牌形象</a:t>
            </a:r>
          </a:p>
        </p:txBody>
      </p:sp>
      <p:sp>
        <p:nvSpPr>
          <p:cNvPr id="11" name="Card3Bg"/>
          <p:cNvSpPr/>
          <p:nvPr/>
        </p:nvSpPr>
        <p:spPr>
          <a:xfrm>
            <a:off x="235132" y="1213394"/>
            <a:ext cx="2692400" cy="3556000"/>
          </a:xfrm>
          <a:prstGeom prst="round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3Bar"/>
          <p:cNvSpPr/>
          <p:nvPr/>
        </p:nvSpPr>
        <p:spPr>
          <a:xfrm>
            <a:off x="235132" y="1213394"/>
            <a:ext cx="2692400" cy="6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3Text"/>
          <p:cNvSpPr/>
          <p:nvPr/>
        </p:nvSpPr>
        <p:spPr>
          <a:xfrm>
            <a:off x="362132" y="1276894"/>
            <a:ext cx="2438400" cy="3365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1800"/>
              </a:spcBef>
              <a:spcAft>
                <a:spcPts val="400"/>
              </a:spcAft>
              <a:buNone/>
            </a:pPr>
            <a:r>
              <a:rPr lang="zh-TW" sz="1600" b="1" dirty="0">
                <a:solidFill>
                  <a:srgbClr val="0891B2"/>
                </a:solidFill>
                <a:latin typeface="Calibri"/>
                <a:ea typeface="Microsoft JhengHei"/>
              </a:rPr>
              <a:t>目標用戶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zh-TW" sz="1400" dirty="0">
                <a:solidFill>
                  <a:srgbClr val="94A3B8"/>
                </a:solidFill>
                <a:latin typeface="Calibri"/>
                <a:ea typeface="Microsoft JhengHei"/>
              </a:rPr>
              <a:t>─────────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zh-TW" sz="1500" b="1" dirty="0">
                <a:solidFill>
                  <a:srgbClr val="0891B2"/>
                </a:solidFill>
                <a:latin typeface="Calibri"/>
                <a:ea typeface="Microsoft JhengHei"/>
              </a:rPr>
              <a:t>▸ 研究生</a:t>
            </a:r>
          </a:p>
          <a:p>
            <a:pPr marL="171450" indent="0">
              <a:spcBef>
                <a:spcPts val="100"/>
              </a:spcBef>
              <a:spcAft>
                <a:spcPts val="200"/>
              </a:spcAft>
              <a:buNone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加速選題與文獻探索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zh-TW" sz="1500" b="1" dirty="0">
                <a:solidFill>
                  <a:srgbClr val="0891B2"/>
                </a:solidFill>
                <a:latin typeface="Calibri"/>
                <a:ea typeface="Microsoft JhengHei"/>
              </a:rPr>
              <a:t>▸ 教授</a:t>
            </a:r>
          </a:p>
          <a:p>
            <a:pPr marL="171450" indent="0">
              <a:spcBef>
                <a:spcPts val="100"/>
              </a:spcBef>
              <a:spcAft>
                <a:spcPts val="200"/>
              </a:spcAft>
              <a:buNone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拓展跨域研究方向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buNone/>
            </a:pPr>
            <a:r>
              <a:rPr lang="zh-TW" sz="1500" b="1" dirty="0">
                <a:solidFill>
                  <a:srgbClr val="0891B2"/>
                </a:solidFill>
                <a:latin typeface="Calibri"/>
                <a:ea typeface="Microsoft JhengHei"/>
              </a:rPr>
              <a:t>▸ 研究機構</a:t>
            </a:r>
          </a:p>
          <a:p>
            <a:pPr marL="171450" indent="0">
              <a:spcBef>
                <a:spcPts val="100"/>
              </a:spcBef>
              <a:spcAft>
                <a:spcPts val="200"/>
              </a:spcAft>
              <a:buNone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批次跨領域構想探索</a:t>
            </a:r>
          </a:p>
        </p:txBody>
      </p:sp>
      <p:pic>
        <p:nvPicPr>
          <p:cNvPr id="14" name="Graphic 14" descr="Market opportunit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9900" y="1314994"/>
            <a:ext cx="457200" cy="457200"/>
          </a:xfrm>
          <a:prstGeom prst="rect">
            <a:avLst/>
          </a:prstGeom>
        </p:spPr>
      </p:pic>
      <p:pic>
        <p:nvPicPr>
          <p:cNvPr id="15" name="Graphic 15" descr="Partnership valu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7068" y="1314994"/>
            <a:ext cx="457200" cy="457200"/>
          </a:xfrm>
          <a:prstGeom prst="rect">
            <a:avLst/>
          </a:prstGeom>
        </p:spPr>
      </p:pic>
      <p:pic>
        <p:nvPicPr>
          <p:cNvPr id="16" name="Graphic 16" descr="Target user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2732" y="1314994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88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MyNova：全球首個 HASS 研究構想生成系統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66850" y="12319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1466850" y="12319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6900" y="1879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E293B"/>
                </a:solidFill>
                <a:latin typeface="Calibri"/>
                <a:ea typeface="Microsoft JhengHei"/>
              </a:rPr>
              <a:t>輸入一篇學術文獻</a:t>
            </a: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 (PDF)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63750" y="1479550"/>
            <a:ext cx="2095500" cy="50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210050" y="12319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210050" y="12319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1879600"/>
            <a:ext cx="165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AI 處理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6950" y="1479550"/>
            <a:ext cx="2095500" cy="50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953250" y="12319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53250" y="12319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19800" y="1879600"/>
            <a:ext cx="2413000" cy="368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E293B"/>
                </a:solidFill>
                <a:latin typeface="Calibri"/>
                <a:ea typeface="Microsoft JhengHei"/>
              </a:rPr>
              <a:t>排序過的多個創新研究提案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52843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目標使用者：HASS 領域研究者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80275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教育 | 社會科學 | 人文學科 | 心理學 | 及其他人文社會領域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560320" cy="14630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94360" y="367642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縮短研究前期準備時間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016361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/>
                <a:ea typeface="Microsoft JhengHei"/>
              </a:rPr>
              <a:t>數週 → 數小時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560320" cy="14630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347915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降低研究設計錯誤風險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4018671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/>
                <a:ea typeface="Microsoft JhengHei"/>
              </a:rPr>
              <a:t>方法論對齊機制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3200400"/>
            <a:ext cx="2560320" cy="14630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000262" y="367642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提升研究構想品質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4018671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/>
                <a:ea typeface="Microsoft JhengHei"/>
              </a:rPr>
              <a:t>科學創新理論引導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/>
                <a:ea typeface="Microsoft JhengHei"/>
              </a:rPr>
              <a:t>研究輔助工具，不是研究取代者｜本階段為技術驗證 (PoC)，非最終產品</a:t>
            </a:r>
            <a:endParaRPr lang="en-US" sz="1200" dirty="0"/>
          </a:p>
        </p:txBody>
      </p:sp>
      <p:pic>
        <p:nvPicPr>
          <p:cNvPr id="28" name="Graphic 28" descr="輸入文件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1300" y="1276350"/>
            <a:ext cx="457200" cy="457200"/>
          </a:xfrm>
          <a:prstGeom prst="rect">
            <a:avLst/>
          </a:prstGeom>
        </p:spPr>
      </p:pic>
      <p:pic>
        <p:nvPicPr>
          <p:cNvPr id="29" name="Graphic 29" descr="AI 處理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4500" y="1276350"/>
            <a:ext cx="457200" cy="457200"/>
          </a:xfrm>
          <a:prstGeom prst="rect">
            <a:avLst/>
          </a:prstGeom>
        </p:spPr>
      </p:pic>
      <p:pic>
        <p:nvPicPr>
          <p:cNvPr id="30" name="Graphic 30" descr="創新提案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700" y="1276350"/>
            <a:ext cx="457200" cy="457200"/>
          </a:xfrm>
          <a:prstGeom prst="rect">
            <a:avLst/>
          </a:prstGeom>
        </p:spPr>
      </p:pic>
      <p:pic>
        <p:nvPicPr>
          <p:cNvPr id="31" name="Graphic 31" descr="縮短時間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8600" y="3238500"/>
            <a:ext cx="457200" cy="457200"/>
          </a:xfrm>
          <a:prstGeom prst="rect">
            <a:avLst/>
          </a:prstGeom>
        </p:spPr>
      </p:pic>
      <p:pic>
        <p:nvPicPr>
          <p:cNvPr id="32" name="Graphic 32" descr="降低風險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41800" y="3238500"/>
            <a:ext cx="457200" cy="457200"/>
          </a:xfrm>
          <a:prstGeom prst="rect">
            <a:avLst/>
          </a:prstGeom>
        </p:spPr>
      </p:pic>
      <p:pic>
        <p:nvPicPr>
          <p:cNvPr id="33" name="Graphic 33" descr="提升品質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0" y="32385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71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0033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3" name="AccentLine"/>
          <p:cNvSpPr/>
          <p:nvPr/>
        </p:nvSpPr>
        <p:spPr>
          <a:xfrm>
            <a:off x="0" y="1003300"/>
            <a:ext cx="9144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46100" y="152400"/>
            <a:ext cx="8051800" cy="7366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>
              <a:buNone/>
            </a:pPr>
            <a:r>
              <a:rPr lang="zh-TW" sz="2800" b="1" dirty="0">
                <a:solidFill>
                  <a:srgbClr val="FFFFFF"/>
                </a:solidFill>
                <a:latin typeface="Arial Black"/>
                <a:ea typeface="Arial Black"/>
              </a:rPr>
              <a:t>系統運作流程：6 大階段</a:t>
            </a:r>
          </a:p>
        </p:txBody>
      </p:sp>
      <p:sp>
        <p:nvSpPr>
          <p:cNvPr id="10" name="S1Bg"/>
          <p:cNvSpPr/>
          <p:nvPr/>
        </p:nvSpPr>
        <p:spPr>
          <a:xfrm>
            <a:off x="355600" y="1168400"/>
            <a:ext cx="27432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11" name="S1Ac"/>
          <p:cNvSpPr/>
          <p:nvPr/>
        </p:nvSpPr>
        <p:spPr>
          <a:xfrm>
            <a:off x="355600" y="11684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12" name="S1Num"/>
          <p:cNvSpPr/>
          <p:nvPr/>
        </p:nvSpPr>
        <p:spPr>
          <a:xfrm>
            <a:off x="482600" y="1346200"/>
            <a:ext cx="355600" cy="3556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3" name="S1Tx"/>
          <p:cNvSpPr/>
          <p:nvPr/>
        </p:nvSpPr>
        <p:spPr>
          <a:xfrm>
            <a:off x="914400" y="1168400"/>
            <a:ext cx="2108200" cy="711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>
              <a:spcAft>
                <a:spcPts val="5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剖析論文</a:t>
            </a:r>
          </a:p>
          <a:p>
            <a:pPr algn="l"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擷取主題、摘要、文獻</a:t>
            </a:r>
          </a:p>
        </p:txBody>
      </p:sp>
      <p:sp>
        <p:nvSpPr>
          <p:cNvPr id="14" name="S2Bg"/>
          <p:cNvSpPr/>
          <p:nvPr/>
        </p:nvSpPr>
        <p:spPr>
          <a:xfrm>
            <a:off x="3251200" y="1168400"/>
            <a:ext cx="27432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15" name="S2Ac"/>
          <p:cNvSpPr/>
          <p:nvPr/>
        </p:nvSpPr>
        <p:spPr>
          <a:xfrm>
            <a:off x="3251200" y="11684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16" name="S2Num"/>
          <p:cNvSpPr/>
          <p:nvPr/>
        </p:nvSpPr>
        <p:spPr>
          <a:xfrm>
            <a:off x="3378200" y="1346200"/>
            <a:ext cx="355600" cy="3556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7" name="S2Tx"/>
          <p:cNvSpPr/>
          <p:nvPr/>
        </p:nvSpPr>
        <p:spPr>
          <a:xfrm>
            <a:off x="3810000" y="1168400"/>
            <a:ext cx="2108200" cy="711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>
              <a:spcAft>
                <a:spcPts val="5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種子想法生成</a:t>
            </a:r>
          </a:p>
          <a:p>
            <a:pPr algn="l"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理論引導 + 趨勢導向</a:t>
            </a:r>
          </a:p>
        </p:txBody>
      </p:sp>
      <p:sp>
        <p:nvSpPr>
          <p:cNvPr id="18" name="S3Bg"/>
          <p:cNvSpPr/>
          <p:nvPr/>
        </p:nvSpPr>
        <p:spPr>
          <a:xfrm>
            <a:off x="6146800" y="1168400"/>
            <a:ext cx="27432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19" name="S3Ac"/>
          <p:cNvSpPr/>
          <p:nvPr/>
        </p:nvSpPr>
        <p:spPr>
          <a:xfrm>
            <a:off x="6146800" y="11684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20" name="S3Num"/>
          <p:cNvSpPr/>
          <p:nvPr/>
        </p:nvSpPr>
        <p:spPr>
          <a:xfrm>
            <a:off x="6273800" y="1346200"/>
            <a:ext cx="355600" cy="3556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1" name="S3Tx"/>
          <p:cNvSpPr/>
          <p:nvPr/>
        </p:nvSpPr>
        <p:spPr>
          <a:xfrm>
            <a:off x="6705600" y="1168400"/>
            <a:ext cx="2108200" cy="711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>
              <a:spcAft>
                <a:spcPts val="5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迭代擴展</a:t>
            </a:r>
          </a:p>
          <a:p>
            <a:pPr algn="l">
              <a:buNone/>
            </a:pPr>
            <a:r>
              <a:rPr lang="en-US" alt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[</a:t>
            </a:r>
            <a:r>
              <a:rPr lang="zh-TW" alt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 </a:t>
            </a: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計劃性 RAG + 擴展</a:t>
            </a:r>
            <a:r>
              <a:rPr lang="zh-TW" alt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 </a:t>
            </a:r>
            <a:r>
              <a:rPr lang="en-US" alt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]</a:t>
            </a:r>
            <a:r>
              <a:rPr lang="zh-TW" alt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 </a:t>
            </a: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×3</a:t>
            </a:r>
          </a:p>
        </p:txBody>
      </p:sp>
      <p:sp>
        <p:nvSpPr>
          <p:cNvPr id="22" name="S4Bg"/>
          <p:cNvSpPr/>
          <p:nvPr/>
        </p:nvSpPr>
        <p:spPr>
          <a:xfrm>
            <a:off x="355600" y="2032000"/>
            <a:ext cx="27432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23" name="S4Ac"/>
          <p:cNvSpPr/>
          <p:nvPr/>
        </p:nvSpPr>
        <p:spPr>
          <a:xfrm>
            <a:off x="355600" y="20320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24" name="S4Num"/>
          <p:cNvSpPr/>
          <p:nvPr/>
        </p:nvSpPr>
        <p:spPr>
          <a:xfrm>
            <a:off x="482600" y="2209800"/>
            <a:ext cx="355600" cy="3556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5" name="S4Tx"/>
          <p:cNvSpPr/>
          <p:nvPr/>
        </p:nvSpPr>
        <p:spPr>
          <a:xfrm>
            <a:off x="914400" y="2032000"/>
            <a:ext cx="2108200" cy="711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>
              <a:spcAft>
                <a:spcPts val="5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歸類</a:t>
            </a:r>
          </a:p>
          <a:p>
            <a:pPr algn="l"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K-Means 分群</a:t>
            </a:r>
          </a:p>
        </p:txBody>
      </p:sp>
      <p:sp>
        <p:nvSpPr>
          <p:cNvPr id="26" name="S5Bg"/>
          <p:cNvSpPr/>
          <p:nvPr/>
        </p:nvSpPr>
        <p:spPr>
          <a:xfrm>
            <a:off x="3251200" y="2032000"/>
            <a:ext cx="27432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27" name="S5Ac"/>
          <p:cNvSpPr/>
          <p:nvPr/>
        </p:nvSpPr>
        <p:spPr>
          <a:xfrm>
            <a:off x="3251200" y="20320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28" name="S5Num"/>
          <p:cNvSpPr/>
          <p:nvPr/>
        </p:nvSpPr>
        <p:spPr>
          <a:xfrm>
            <a:off x="3378200" y="2209800"/>
            <a:ext cx="355600" cy="3556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</a:rPr>
              <a:t>5</a:t>
            </a:r>
          </a:p>
        </p:txBody>
      </p:sp>
      <p:sp>
        <p:nvSpPr>
          <p:cNvPr id="29" name="S5Tx"/>
          <p:cNvSpPr/>
          <p:nvPr/>
        </p:nvSpPr>
        <p:spPr>
          <a:xfrm>
            <a:off x="3810000" y="2032000"/>
            <a:ext cx="2108200" cy="711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>
              <a:spcAft>
                <a:spcPts val="5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排序</a:t>
            </a:r>
          </a:p>
          <a:p>
            <a:pPr algn="l"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瑞士制錦標賽</a:t>
            </a:r>
          </a:p>
        </p:txBody>
      </p:sp>
      <p:sp>
        <p:nvSpPr>
          <p:cNvPr id="30" name="S6Bg"/>
          <p:cNvSpPr/>
          <p:nvPr/>
        </p:nvSpPr>
        <p:spPr>
          <a:xfrm>
            <a:off x="6146800" y="2032000"/>
            <a:ext cx="27432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31" name="S6Ac"/>
          <p:cNvSpPr/>
          <p:nvPr/>
        </p:nvSpPr>
        <p:spPr>
          <a:xfrm>
            <a:off x="6146800" y="20320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32" name="S6Num"/>
          <p:cNvSpPr/>
          <p:nvPr/>
        </p:nvSpPr>
        <p:spPr>
          <a:xfrm>
            <a:off x="6273800" y="2209800"/>
            <a:ext cx="355600" cy="3556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</a:rPr>
              <a:t>6</a:t>
            </a:r>
          </a:p>
        </p:txBody>
      </p:sp>
      <p:sp>
        <p:nvSpPr>
          <p:cNvPr id="33" name="S6Tx"/>
          <p:cNvSpPr/>
          <p:nvPr/>
        </p:nvSpPr>
        <p:spPr>
          <a:xfrm>
            <a:off x="6705600" y="2032000"/>
            <a:ext cx="2108200" cy="711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>
              <a:spcAft>
                <a:spcPts val="5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輸出</a:t>
            </a:r>
          </a:p>
          <a:p>
            <a:pPr algn="l"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具體提案 + PDF 報告</a:t>
            </a:r>
          </a:p>
        </p:txBody>
      </p:sp>
      <p:sp>
        <p:nvSpPr>
          <p:cNvPr id="50" name="Arr1"/>
          <p:cNvSpPr/>
          <p:nvPr/>
        </p:nvSpPr>
        <p:spPr>
          <a:xfrm>
            <a:off x="3124200" y="1447800"/>
            <a:ext cx="101600" cy="1524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51" name="Arr2"/>
          <p:cNvSpPr/>
          <p:nvPr/>
        </p:nvSpPr>
        <p:spPr>
          <a:xfrm>
            <a:off x="6019800" y="1447800"/>
            <a:ext cx="101600" cy="1524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52" name="Arr3"/>
          <p:cNvSpPr/>
          <p:nvPr/>
        </p:nvSpPr>
        <p:spPr>
          <a:xfrm>
            <a:off x="3124200" y="2311400"/>
            <a:ext cx="101600" cy="1524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53" name="Arr4"/>
          <p:cNvSpPr/>
          <p:nvPr/>
        </p:nvSpPr>
        <p:spPr>
          <a:xfrm>
            <a:off x="6019800" y="2311400"/>
            <a:ext cx="101600" cy="1524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60" name="DetailLabel"/>
          <p:cNvSpPr/>
          <p:nvPr/>
        </p:nvSpPr>
        <p:spPr>
          <a:xfrm>
            <a:off x="330200" y="3085123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ctr"/>
          <a:lstStyle/>
          <a:p>
            <a:pPr algn="l">
              <a:buNone/>
            </a:pPr>
            <a:r>
              <a:rPr lang="zh-TW" sz="1400" b="1" dirty="0">
                <a:solidFill>
                  <a:srgbClr val="0E7490"/>
                </a:solidFill>
                <a:latin typeface="Calibri"/>
                <a:ea typeface="Microsoft JhengHei"/>
              </a:rPr>
              <a:t>核心技術亮點</a:t>
            </a:r>
          </a:p>
        </p:txBody>
      </p:sp>
      <p:sp>
        <p:nvSpPr>
          <p:cNvPr id="70" name="D1Bg"/>
          <p:cNvSpPr/>
          <p:nvPr/>
        </p:nvSpPr>
        <p:spPr>
          <a:xfrm>
            <a:off x="330200" y="3313723"/>
            <a:ext cx="2743200" cy="1524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71" name="D1Ac"/>
          <p:cNvSpPr/>
          <p:nvPr/>
        </p:nvSpPr>
        <p:spPr>
          <a:xfrm>
            <a:off x="330200" y="3415323"/>
            <a:ext cx="50800" cy="13208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72" name="D1Tx"/>
          <p:cNvSpPr/>
          <p:nvPr/>
        </p:nvSpPr>
        <p:spPr>
          <a:xfrm>
            <a:off x="482600" y="3313723"/>
            <a:ext cx="2514600" cy="152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>
              <a:spcAft>
                <a:spcPts val="15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科學創新理論引導</a:t>
            </a:r>
          </a:p>
          <a:p>
            <a:pPr algn="l">
              <a:lnSpc>
                <a:spcPts val="2000"/>
              </a:lnSpc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用 10 種經典理論框架引導 AI 發想，確保想法有學術根據</a:t>
            </a:r>
          </a:p>
        </p:txBody>
      </p:sp>
      <p:sp>
        <p:nvSpPr>
          <p:cNvPr id="73" name="D2Bg"/>
          <p:cNvSpPr/>
          <p:nvPr/>
        </p:nvSpPr>
        <p:spPr>
          <a:xfrm>
            <a:off x="3225800" y="3313723"/>
            <a:ext cx="2743200" cy="1524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74" name="D2Ac"/>
          <p:cNvSpPr/>
          <p:nvPr/>
        </p:nvSpPr>
        <p:spPr>
          <a:xfrm>
            <a:off x="3225800" y="3415323"/>
            <a:ext cx="50800" cy="132080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75" name="D2Tx"/>
          <p:cNvSpPr/>
          <p:nvPr/>
        </p:nvSpPr>
        <p:spPr>
          <a:xfrm>
            <a:off x="3378200" y="3313723"/>
            <a:ext cx="2514600" cy="152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>
              <a:spcAft>
                <a:spcPts val="15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計劃性 RAG 檢索</a:t>
            </a:r>
          </a:p>
          <a:p>
            <a:pPr algn="l">
              <a:lnSpc>
                <a:spcPts val="2000"/>
              </a:lnSpc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AI 先規劃知識需求，再跨領域檢索，有策略地查資料</a:t>
            </a:r>
          </a:p>
        </p:txBody>
      </p:sp>
      <p:sp>
        <p:nvSpPr>
          <p:cNvPr id="76" name="D3Bg"/>
          <p:cNvSpPr/>
          <p:nvPr/>
        </p:nvSpPr>
        <p:spPr>
          <a:xfrm>
            <a:off x="6121400" y="3313723"/>
            <a:ext cx="2743200" cy="1524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77" name="D3Ac"/>
          <p:cNvSpPr/>
          <p:nvPr/>
        </p:nvSpPr>
        <p:spPr>
          <a:xfrm>
            <a:off x="6121400" y="3415323"/>
            <a:ext cx="50800" cy="1320800"/>
          </a:xfrm>
          <a:prstGeom prst="roundRect">
            <a:avLst>
              <a:gd name="adj" fmla="val 6000"/>
            </a:avLst>
          </a:prstGeom>
          <a:solidFill>
            <a:srgbClr val="164E63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endParaRPr lang="en-US"/>
          </a:p>
        </p:txBody>
      </p:sp>
      <p:sp>
        <p:nvSpPr>
          <p:cNvPr id="78" name="D3Tx"/>
          <p:cNvSpPr/>
          <p:nvPr/>
        </p:nvSpPr>
        <p:spPr>
          <a:xfrm>
            <a:off x="6273800" y="3313723"/>
            <a:ext cx="2514600" cy="1524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anchor="t"/>
          <a:lstStyle/>
          <a:p>
            <a:pPr algn="l">
              <a:spcAft>
                <a:spcPts val="15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瑞士制排序</a:t>
            </a:r>
          </a:p>
          <a:p>
            <a:pPr algn="l">
              <a:lnSpc>
                <a:spcPts val="2000"/>
              </a:lnSpc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提案兩兩 PK，由 AI 評審排名，公平篩選留下最好構想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F8F464-5713-8548-ABC6-6EDE1D79ACBA}"/>
              </a:ext>
            </a:extLst>
          </p:cNvPr>
          <p:cNvSpPr/>
          <p:nvPr/>
        </p:nvSpPr>
        <p:spPr>
          <a:xfrm>
            <a:off x="330200" y="2942882"/>
            <a:ext cx="8432800" cy="1905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353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AccentLine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itle"/>
          <p:cNvSpPr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成果展示：嬰兒睡眠研究案例</a:t>
            </a:r>
          </a:p>
        </p:txBody>
      </p:sp>
      <p:sp>
        <p:nvSpPr>
          <p:cNvPr id="5" name="SeedCardBg"/>
          <p:cNvSpPr/>
          <p:nvPr/>
        </p:nvSpPr>
        <p:spPr>
          <a:xfrm>
            <a:off x="457200" y="1188720"/>
            <a:ext cx="8229600" cy="7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eedLabel"/>
          <p:cNvSpPr/>
          <p:nvPr/>
        </p:nvSpPr>
        <p:spPr>
          <a:xfrm>
            <a:off x="640080" y="1207008"/>
            <a:ext cx="200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sz="1400" b="1" dirty="0">
                <a:solidFill>
                  <a:srgbClr val="0891B2"/>
                </a:solidFill>
                <a:latin typeface="Calibri"/>
                <a:ea typeface="Microsoft JhengHei"/>
              </a:rPr>
              <a:t>專家與種子論文</a:t>
            </a:r>
          </a:p>
        </p:txBody>
      </p:sp>
      <p:sp>
        <p:nvSpPr>
          <p:cNvPr id="7" name="ProfLine"/>
          <p:cNvSpPr/>
          <p:nvPr/>
        </p:nvSpPr>
        <p:spPr>
          <a:xfrm>
            <a:off x="640080" y="1435608"/>
            <a:ext cx="786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sz="1400" b="1" dirty="0">
                <a:solidFill>
                  <a:srgbClr val="1E293B"/>
                </a:solidFill>
                <a:latin typeface="Calibri"/>
                <a:ea typeface="Microsoft JhengHei"/>
              </a:rPr>
              <a:t>張鑑如教授</a:t>
            </a: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 ｜ 臺師大</a:t>
            </a:r>
            <a:r>
              <a:rPr lang="zh-TW" alt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幼兒及</a:t>
            </a: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家庭</a:t>
            </a:r>
            <a:r>
              <a:rPr lang="zh-TW" alt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科學</a:t>
            </a: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學系 ｜ KIT計畫主持人（20+ 位跨領域專家）</a:t>
            </a:r>
          </a:p>
        </p:txBody>
      </p:sp>
      <p:sp>
        <p:nvSpPr>
          <p:cNvPr id="8" name="SeedDetail"/>
          <p:cNvSpPr/>
          <p:nvPr/>
        </p:nvSpPr>
        <p:spPr>
          <a:xfrm>
            <a:off x="640080" y="1664208"/>
            <a:ext cx="786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Sleep Medicine (2024) ｜ 5,000+ 臺灣幼兒追蹤研究，探討嬰兒期睡眠問題對發展軌跡的長期影響</a:t>
            </a:r>
          </a:p>
        </p:txBody>
      </p:sp>
      <p:sp>
        <p:nvSpPr>
          <p:cNvPr id="9" name="TealBar"/>
          <p:cNvSpPr/>
          <p:nvPr/>
        </p:nvSpPr>
        <p:spPr>
          <a:xfrm>
            <a:off x="457200" y="2100000"/>
            <a:ext cx="73152" cy="2050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NovaCardBg"/>
          <p:cNvSpPr/>
          <p:nvPr/>
        </p:nvSpPr>
        <p:spPr>
          <a:xfrm>
            <a:off x="530352" y="2100000"/>
            <a:ext cx="8156448" cy="20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NovaLabel"/>
          <p:cNvSpPr/>
          <p:nvPr/>
        </p:nvSpPr>
        <p:spPr>
          <a:xfrm>
            <a:off x="685800" y="21500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91B2"/>
                </a:solidFill>
                <a:latin typeface="Calibri"/>
                <a:ea typeface="Microsoft JhengHei"/>
              </a:rPr>
              <a:t>MyNova 提案</a:t>
            </a:r>
          </a:p>
        </p:txBody>
      </p:sp>
      <p:sp>
        <p:nvSpPr>
          <p:cNvPr id="12" name="ProposalTitle"/>
          <p:cNvSpPr/>
          <p:nvPr/>
        </p:nvSpPr>
        <p:spPr>
          <a:xfrm>
            <a:off x="685800" y="2400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Calibri"/>
                <a:ea typeface="Microsoft JhengHei"/>
              </a:rPr>
              <a:t>"The Maternal Mind"</a:t>
            </a:r>
          </a:p>
        </p:txBody>
      </p:sp>
      <p:sp>
        <p:nvSpPr>
          <p:cNvPr id="13" name="ProposalDesc"/>
          <p:cNvSpPr/>
          <p:nvPr/>
        </p:nvSpPr>
        <p:spPr>
          <a:xfrm>
            <a:off x="685800" y="27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母親產前心理健康 → 幼兒睡眠與發展之關聯研究</a:t>
            </a:r>
          </a:p>
        </p:txBody>
      </p:sp>
      <p:sp>
        <p:nvSpPr>
          <p:cNvPr id="14" name="ExpertLabel"/>
          <p:cNvSpPr/>
          <p:nvPr/>
        </p:nvSpPr>
        <p:spPr>
          <a:xfrm>
            <a:off x="685800" y="30600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sz="1400" b="1" dirty="0">
                <a:solidFill>
                  <a:srgbClr val="1E293B"/>
                </a:solidFill>
                <a:latin typeface="Calibri"/>
                <a:ea typeface="Microsoft JhengHei"/>
              </a:rPr>
              <a:t>專家評價（張鑑如教授）：</a:t>
            </a:r>
          </a:p>
        </p:txBody>
      </p:sp>
      <p:sp>
        <p:nvSpPr>
          <p:cNvPr id="15" name="ExpertQuotes"/>
          <p:cNvSpPr/>
          <p:nvPr/>
        </p:nvSpPr>
        <p:spPr>
          <a:xfrm>
            <a:off x="868680" y="3310000"/>
            <a:ext cx="7498080" cy="7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「這個提案是有意思的」</a:t>
            </a:r>
          </a:p>
          <a:p>
            <a:pPr marL="342900" indent="-342900">
              <a:buSzPct val="100000"/>
              <a:buChar char="•"/>
            </a:pPr>
            <a:r>
              <a:rPr lang="zh-TW" sz="1400" dirty="0">
                <a:solidFill>
                  <a:srgbClr val="1E293B"/>
                </a:solidFill>
                <a:latin typeface="Calibri"/>
                <a:ea typeface="Microsoft JhengHei"/>
              </a:rPr>
              <a:t>「動機、方法、實驗前後一致，沒有矛盾」</a:t>
            </a:r>
          </a:p>
          <a:p>
            <a:pPr marL="342900" indent="-342900">
              <a:buSzPct val="100000"/>
              <a:buChar char="•"/>
            </a:pPr>
            <a:r>
              <a:rPr lang="zh-TW" sz="1400" i="1" dirty="0">
                <a:solidFill>
                  <a:srgbClr val="64748B"/>
                </a:solidFill>
                <a:latin typeface="Calibri"/>
                <a:ea typeface="Microsoft JhengHei"/>
              </a:rPr>
              <a:t>訪談由曾元顯教授進行正式訪談記錄</a:t>
            </a:r>
          </a:p>
        </p:txBody>
      </p:sp>
      <p:sp>
        <p:nvSpPr>
          <p:cNvPr id="16" name="BottomBarBg"/>
          <p:cNvSpPr/>
          <p:nvPr/>
        </p:nvSpPr>
        <p:spPr>
          <a:xfrm>
            <a:off x="457200" y="4350000"/>
            <a:ext cx="8229600" cy="32004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400" dirty="0">
                <a:solidFill>
                  <a:srgbClr val="FFFFFF"/>
                </a:solidFill>
                <a:latin typeface="Calibri"/>
                <a:ea typeface="Microsoft JhengHei"/>
              </a:rPr>
              <a:t>核心洞察：方法 (SEM) 更符合 HASS 研究主軸，與商業 AI 形成差異化</a:t>
            </a:r>
          </a:p>
        </p:txBody>
      </p:sp>
      <p:pic>
        <p:nvPicPr>
          <p:cNvPr id="17" name="Graphic 17" descr="種子論文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0" y="1206500"/>
            <a:ext cx="457200" cy="457200"/>
          </a:xfrm>
          <a:prstGeom prst="rect">
            <a:avLst/>
          </a:prstGeom>
        </p:spPr>
      </p:pic>
      <p:pic>
        <p:nvPicPr>
          <p:cNvPr id="18" name="Graphic 18" descr="專家引言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0" y="3048000"/>
            <a:ext cx="406400" cy="4064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FA805162-E8E7-5548-BEB0-6FC8625D10F9}"/>
              </a:ext>
            </a:extLst>
          </p:cNvPr>
          <p:cNvSpPr/>
          <p:nvPr/>
        </p:nvSpPr>
        <p:spPr>
          <a:xfrm>
            <a:off x="457200" y="4318000"/>
            <a:ext cx="8229600" cy="381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315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與頂級商業 AI 比較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/>
                <a:ea typeface="Microsoft JhengHei"/>
              </a:rPr>
              <a:t>同一篇種子論文：張鑑如 (2024) 嬰兒睡眠研究 — 以下 5 個 AI 工具各自產出研究構想後比較</a:t>
            </a:r>
          </a:p>
        </p:txBody>
      </p:sp>
      <p:sp>
        <p:nvSpPr>
          <p:cNvPr id="7" name="Shape 5"/>
          <p:cNvSpPr/>
          <p:nvPr/>
        </p:nvSpPr>
        <p:spPr>
          <a:xfrm>
            <a:off x="228600" y="1554480"/>
            <a:ext cx="16891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66700" y="1600200"/>
            <a:ext cx="161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ChatGPT 5.2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4550" y="18745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4455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6700" y="2331720"/>
            <a:ext cx="16129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誤判 HASS 屬性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81200" y="1554480"/>
            <a:ext cx="16891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019300" y="1600200"/>
            <a:ext cx="161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Gemini 3 Pro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97150" y="18745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59715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9300" y="2421987"/>
            <a:ext cx="16129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過度擴張議題</a:t>
            </a:r>
            <a:endParaRPr lang="en-US" sz="9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(嬰兒睡眠→居住正義)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33800" y="1554480"/>
            <a:ext cx="16891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771900" y="1600200"/>
            <a:ext cx="161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Claude Opus 4.5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9750" y="18745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34975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10000" y="2409092"/>
            <a:ext cx="16129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偏離原論文</a:t>
            </a:r>
            <a:endParaRPr lang="en-US" sz="9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研究核心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554480"/>
            <a:ext cx="16891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524500" y="1600200"/>
            <a:ext cx="161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Grok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02350" y="18745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10235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JhengHei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24500" y="2396197"/>
            <a:ext cx="16129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脫離可行性</a:t>
            </a:r>
            <a:endParaRPr lang="en-US" sz="9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(田野調查成本高)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9000" y="1554480"/>
            <a:ext cx="168910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277100" y="1600200"/>
            <a:ext cx="1612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NotebookLM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54950" y="18745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85495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Microsoft JhengHei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77100" y="2423160"/>
            <a:ext cx="16129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來源檢索強</a:t>
            </a:r>
            <a:endParaRPr lang="en-US" sz="900" dirty="0"/>
          </a:p>
          <a:p>
            <a:pPr marL="0" indent="0" algn="ctr">
              <a:buNone/>
            </a:pPr>
            <a:r>
              <a:rPr lang="en-US" sz="1400" dirty="0" err="1">
                <a:solidFill>
                  <a:srgbClr val="1E293B"/>
                </a:solidFill>
                <a:latin typeface="Calibri"/>
                <a:ea typeface="Microsoft JhengHei"/>
              </a:rPr>
              <a:t>但缺乏方法論</a:t>
            </a:r>
            <a:endParaRPr lang="en-US" sz="9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對齊機制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20040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008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來源檢索能力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32918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NotebookLM 依靠 Google 搜尋，來源資料豐富，論文檢索能力目前無對手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703320"/>
            <a:ext cx="7863840" cy="1828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" y="3840479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/>
                <a:ea typeface="Microsoft JhengHei"/>
              </a:rPr>
              <a:t>方法論對齊 + 學術嚴謹性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3840479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MyNova 獨有：科學創新理論引導發想、動機-方法-實驗前後一致性檢驗、SEM 等 HASS 適用方法推薦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891B2"/>
                </a:solidFill>
                <a:latin typeface="Calibri"/>
                <a:ea typeface="Microsoft JhengHei"/>
              </a:rPr>
              <a:t>張教授評價：「動機、方法、實驗前後一致，沒有矛盾」— 有方法論的 AI 才能產出可執行的研究構想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5068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第二輪驗證：資料來源會影響想法品質嗎？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/>
                <a:ea typeface="Microsoft JhengHei"/>
              </a:rPr>
              <a:t>Block A 結論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MyNova 的方法論對齊機制，能產出比商業 LLM 更具學術嚴謹性的研究構想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→ 演算法品質已驗證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0" y="13665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libri"/>
                <a:ea typeface="Microsoft JhengHei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93192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85D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26"/>
                </a:solidFill>
                <a:latin typeface="Calibri"/>
                <a:ea typeface="Microsoft JhengHei"/>
              </a:rPr>
              <a:t>Block B 新問題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如果演算法一樣好，換不同的資料來源（華藝 vs 國際資料庫 vs Google 搜尋）會產生什麼差異？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89200"/>
            <a:ext cx="8412480" cy="12700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65760" y="2492326"/>
            <a:ext cx="54864" cy="1270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4360" y="253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/>
                <a:ea typeface="Microsoft JhengHei"/>
              </a:rPr>
              <a:t>測試用種子論文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5349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Chang et al. (2021) | International Journal of Environmental Research and Public Health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9184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Microsoft JhengHei"/>
              </a:rPr>
              <a:t>TLDR：前瞻性縱貫研究，比較安寧緩和照護病房 (PCU) 與共照服務 (PCS) 對 90 位末期癌症病患生活品質的差異影響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98519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場域：台灣 ｜ 方法：CoQoLo + 縱貫追蹤 ｜ 發現：PCU 心理靈性照護顯著優於 PCS</a:t>
            </a:r>
          </a:p>
        </p:txBody>
      </p:sp>
      <p:sp>
        <p:nvSpPr>
          <p:cNvPr id="18" name="Text 16"/>
          <p:cNvSpPr/>
          <p:nvPr/>
        </p:nvSpPr>
        <p:spPr>
          <a:xfrm>
            <a:off x="365760" y="3810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Microsoft JhengHei"/>
              </a:rPr>
              <a:t>三組對比測試設計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30040"/>
            <a:ext cx="2560320" cy="698500"/>
          </a:xfrm>
          <a:prstGeom prst="rect">
            <a:avLst/>
          </a:prstGeom>
          <a:solidFill>
            <a:srgbClr val="F8FAFC"/>
          </a:solidFill>
          <a:ln w="19050">
            <a:solidFill>
              <a:srgbClr val="E85D26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4157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D26"/>
                </a:solidFill>
                <a:latin typeface="Calibri"/>
                <a:ea typeface="Microsoft JhengHei"/>
              </a:rPr>
              <a:t>華藝 Airiti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31792"/>
            <a:ext cx="2377440" cy="35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繁中學術文獻 / 台灣本土</a:t>
            </a:r>
          </a:p>
        </p:txBody>
      </p:sp>
      <p:sp>
        <p:nvSpPr>
          <p:cNvPr id="22" name="Shape 20"/>
          <p:cNvSpPr/>
          <p:nvPr/>
        </p:nvSpPr>
        <p:spPr>
          <a:xfrm>
            <a:off x="3200400" y="4130040"/>
            <a:ext cx="2560320" cy="698500"/>
          </a:xfrm>
          <a:prstGeom prst="rect">
            <a:avLst/>
          </a:prstGeom>
          <a:solidFill>
            <a:srgbClr val="F8FAFC"/>
          </a:solidFill>
          <a:ln w="19050">
            <a:solidFill>
              <a:srgbClr val="6366F1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291840" y="4157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66F1"/>
                </a:solidFill>
                <a:latin typeface="Calibri"/>
                <a:ea typeface="Microsoft JhengHei"/>
              </a:rPr>
              <a:t>Semantic Scholar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4431792"/>
            <a:ext cx="2377440" cy="35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國際英文 / 全球學術資料庫</a:t>
            </a:r>
          </a:p>
        </p:txBody>
      </p:sp>
      <p:sp>
        <p:nvSpPr>
          <p:cNvPr id="25" name="Shape 23"/>
          <p:cNvSpPr/>
          <p:nvPr/>
        </p:nvSpPr>
        <p:spPr>
          <a:xfrm>
            <a:off x="6035040" y="4130040"/>
            <a:ext cx="2560320" cy="698500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126480" y="4157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/>
                <a:ea typeface="Microsoft JhengHei"/>
              </a:rPr>
              <a:t>NotebookLM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431792"/>
            <a:ext cx="2377440" cy="35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/>
                <a:ea typeface="Microsoft JhengHei"/>
              </a:rPr>
              <a:t>Google 搜尋 / 網路公開資源</a:t>
            </a:r>
          </a:p>
        </p:txBody>
      </p:sp>
      <p:pic>
        <p:nvPicPr>
          <p:cNvPr id="28" name="Graphic 28" descr="輸入清單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9200" y="1219200"/>
            <a:ext cx="304800" cy="304800"/>
          </a:xfrm>
          <a:prstGeom prst="rect">
            <a:avLst/>
          </a:prstGeom>
        </p:spPr>
      </p:pic>
      <p:pic>
        <p:nvPicPr>
          <p:cNvPr id="29" name="Graphic 29" descr="輸出結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0" y="12192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81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資料來源對比實測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以安寧緩和照護論文 (Chang et al. 2021) 進行同主題、不同資料來源的對比測試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840480" cy="3108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華藝 Airiti Library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40.0%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平均 Novelty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最高 45.3%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50 篇文獻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含 5 篇中文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35661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297180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冠軍提案 (4 Wins)
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Culturally Competent Community-Based Palliative Care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融合在地文化信仰的社區型安寧照護，訓練社區健康工作者，整合傳統實踐至照護計畫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3840480" cy="3108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66928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 Scholar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33.6%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平均 Novelty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最高 39.4%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50 篇文獻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0 篇中文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880360"/>
            <a:ext cx="34747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166360" y="29718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冠軍提案 (4 Wins)
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Enhancing Patient Experience during Transition to Home-Based Palliative Care
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出院轉銜支持方案，透過心理社會評估與數位平台改善過渡期體驗</a:t>
            </a:r>
            <a:endParaRPr lang="en-US" sz="800" dirty="0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498D667-EEB5-0BC2-5F78-C04DFDA33694}"/>
              </a:ext>
            </a:extLst>
          </p:cNvPr>
          <p:cNvGrpSpPr/>
          <p:nvPr/>
        </p:nvGrpSpPr>
        <p:grpSpPr>
          <a:xfrm>
            <a:off x="3749040" y="1463040"/>
            <a:ext cx="1645920" cy="594360"/>
            <a:chOff x="3749040" y="1600200"/>
            <a:chExt cx="1645920" cy="594360"/>
          </a:xfrm>
        </p:grpSpPr>
        <p:sp>
          <p:nvSpPr>
            <p:cNvPr id="24" name="Shape 22"/>
            <p:cNvSpPr/>
            <p:nvPr/>
          </p:nvSpPr>
          <p:spPr>
            <a:xfrm>
              <a:off x="3749040" y="1600200"/>
              <a:ext cx="1645920" cy="594360"/>
            </a:xfrm>
            <a:prstGeom prst="rect">
              <a:avLst/>
            </a:prstGeom>
            <a:solidFill>
              <a:srgbClr val="059669"/>
            </a:solidFill>
            <a:ln/>
          </p:spPr>
          <p:txBody>
            <a:bodyPr/>
            <a:lstStyle/>
            <a:p>
              <a:endParaRPr/>
            </a:p>
          </p:txBody>
        </p:sp>
        <p:sp>
          <p:nvSpPr>
            <p:cNvPr id="25" name="Text 23"/>
            <p:cNvSpPr/>
            <p:nvPr/>
          </p:nvSpPr>
          <p:spPr>
            <a:xfrm>
              <a:off x="3749040" y="160020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40.0 vs 33.6</a:t>
              </a:r>
              <a:endParaRPr lang="en-US" sz="17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749040" y="1938528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alibri" pitchFamily="34" charset="0"/>
                  <a:ea typeface="Microsoft JhengHei" pitchFamily="34" charset="-122"/>
                  <a:cs typeface="Calibri" pitchFamily="34" charset="-120"/>
                </a:rPr>
                <a:t>平均 Novelty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與市場 AI 工具對比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以同一篇論文，比較 Google NotebookLM Deep Research 與 MyNova + 華藝的實際產出差異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95554" y="1646446"/>
            <a:ext cx="3840480" cy="3246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585932" y="171822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NotebookLM Deep Research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78434" y="214936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來源品質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41474" y="214936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~40% 學術論文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78434" y="249683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其餘來源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41474" y="249683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部落格、新聞、產品頁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78434" y="284431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噪音/離題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41474" y="284431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SPA 手冊、建築等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78434" y="319178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中文文獻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41474" y="319178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0 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8434" y="353925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台灣研究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41474" y="353925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0 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78434" y="388672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匯入失敗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41474" y="388672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~8 個來源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78434" y="4298206"/>
            <a:ext cx="3474720" cy="5588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15594" y="4298206"/>
            <a:ext cx="32004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TW" sz="1400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/5 </a:t>
            </a:r>
            <a:r>
              <a:rPr lang="en-US" sz="1400" dirty="0" err="1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想法聚焦迷幻藥治療</a:t>
            </a:r>
            <a:r>
              <a:rPr lang="en-US" altLang="zh-TW" sz="1400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Psychedelics</a:t>
            </a:r>
            <a:r>
              <a:rPr lang="en-US" altLang="zh-TW" sz="1400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與原論文 PCU vs PCS 照護比較幾乎無關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0846" y="1646446"/>
            <a:ext cx="3840480" cy="3246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213806" y="173788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MyNova + 華藝 Airiti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3726" y="214936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來源品質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36766" y="214936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100% 學術論文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3726" y="249683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來源篩選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36766" y="249683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零噪音、零重複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3726" y="284431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中文文獻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36766" y="284431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5 篇台灣本土研究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3726" y="319178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方法論評分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36766" y="319178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每提案 1-5 分對齊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3726" y="353925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量化評估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36766" y="353925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Novelty / Tournament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3726" y="388672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平均 Novelty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36766" y="388672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26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40.0%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3726" y="4298206"/>
            <a:ext cx="3474720" cy="558800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73726" y="4298206"/>
            <a:ext cx="347472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5/5 </a:t>
            </a:r>
            <a:r>
              <a:rPr lang="en-US" sz="1400" dirty="0" err="1">
                <a:solidFill>
                  <a:srgbClr val="059669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想法與原論文方法論對齊聚焦社區照護、遠距醫療、模擬訓練等實務方向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94760" y="1599148"/>
            <a:ext cx="1554480" cy="5486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794760" y="1600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同一篇論文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94760" y="1874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不同工具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71F4975-B4AC-6843-9EC2-4BA3993A397A}"/>
              </a:ext>
            </a:extLst>
          </p:cNvPr>
          <p:cNvSpPr/>
          <p:nvPr/>
        </p:nvSpPr>
        <p:spPr>
          <a:xfrm>
            <a:off x="0" y="0"/>
            <a:ext cx="9144000" cy="1003300"/>
          </a:xfrm>
          <a:prstGeom prst="rect">
            <a:avLst/>
          </a:prstGeom>
          <a:solidFill>
            <a:srgbClr val="1A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55600" y="1463040"/>
            <a:ext cx="2717800" cy="2895600"/>
          </a:xfrm>
          <a:prstGeom prst="rect">
            <a:avLst/>
          </a:prstGeom>
          <a:solidFill>
            <a:srgbClr val="F8FAFC"/>
          </a:solidFill>
          <a:ln w="6350">
            <a:noFill/>
            <a:prstDash val="solid"/>
          </a:ln>
        </p:spPr>
        <p:txBody>
          <a:bodyPr wrap="square" lIns="137160" tIns="137160" rIns="137160" bIns="91440" anchor="t" anchorCtr="0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buNone/>
            </a:pPr>
            <a:r>
              <a:rPr lang="zh-TW" sz="1600" b="1" dirty="0">
                <a:solidFill>
                  <a:srgbClr val="0E7490"/>
                </a:solidFill>
                <a:latin typeface="Calibri"/>
                <a:ea typeface="Microsoft JhengHei"/>
              </a:rPr>
              <a:t>繁中文獻獨家覆蓋</a:t>
            </a:r>
          </a:p>
          <a:p>
            <a:pPr>
              <a:spcBef>
                <a:spcPts val="200"/>
              </a:spcBef>
              <a:spcAft>
                <a:spcPts val="0"/>
              </a:spcAft>
              <a:buNone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華藝收錄台灣本土研究，提供 AI 無法從國際資料庫取得的在地視角。實測含 5 篇中文文獻，Novelty 40.0% 勝出。</a:t>
            </a:r>
          </a:p>
        </p:txBody>
      </p:sp>
      <p:sp>
        <p:nvSpPr>
          <p:cNvPr id="9" name="Shape 7"/>
          <p:cNvSpPr/>
          <p:nvPr/>
        </p:nvSpPr>
        <p:spPr>
          <a:xfrm>
            <a:off x="3225800" y="1463040"/>
            <a:ext cx="2717800" cy="2895600"/>
          </a:xfrm>
          <a:prstGeom prst="rect">
            <a:avLst/>
          </a:prstGeom>
          <a:solidFill>
            <a:srgbClr val="F8FAFC"/>
          </a:solidFill>
          <a:ln w="6350">
            <a:noFill/>
            <a:prstDash val="solid"/>
          </a:ln>
        </p:spPr>
        <p:txBody>
          <a:bodyPr wrap="square" lIns="137160" tIns="137160" rIns="137160" bIns="91440" anchor="t" anchorCtr="0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buNone/>
            </a:pPr>
            <a:r>
              <a:rPr lang="zh-TW" sz="1600" b="1" dirty="0">
                <a:solidFill>
                  <a:srgbClr val="0E7490"/>
                </a:solidFill>
                <a:latin typeface="Calibri"/>
                <a:ea typeface="Microsoft JhengHei"/>
              </a:rPr>
              <a:t>100% 學術來源、零噪音</a:t>
            </a:r>
          </a:p>
          <a:p>
            <a:pPr>
              <a:spcBef>
                <a:spcPts val="200"/>
              </a:spcBef>
              <a:spcAft>
                <a:spcPts val="0"/>
              </a:spcAft>
              <a:buNone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相較 NotebookLM 僅 40% 學術論文且混雜部落格、新聞，華藝資料全為經審查學術文獻，零噪音零重複。</a:t>
            </a:r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717800" cy="2895600"/>
          </a:xfrm>
          <a:prstGeom prst="rect">
            <a:avLst/>
          </a:prstGeom>
          <a:solidFill>
            <a:srgbClr val="F8FAFC"/>
          </a:solidFill>
          <a:ln w="6350">
            <a:noFill/>
            <a:prstDash val="solid"/>
          </a:ln>
        </p:spPr>
        <p:txBody>
          <a:bodyPr wrap="square" lIns="137160" tIns="137160" rIns="137160" bIns="91440" anchor="t" anchorCtr="0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buNone/>
            </a:pPr>
            <a:r>
              <a:rPr lang="zh-TW" sz="1600" b="1" dirty="0">
                <a:solidFill>
                  <a:srgbClr val="0E7490"/>
                </a:solidFill>
                <a:latin typeface="Calibri"/>
                <a:ea typeface="Microsoft JhengHei"/>
              </a:rPr>
              <a:t>結構化資料 × AI 加值</a:t>
            </a:r>
          </a:p>
          <a:p>
            <a:pPr>
              <a:spcBef>
                <a:spcPts val="200"/>
              </a:spcBef>
              <a:spcAft>
                <a:spcPts val="0"/>
              </a:spcAft>
              <a:buNone/>
            </a:pP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華藝資料具備結構化 metadata，可直接供 Planned RAG 檢索，是 AI 智能客服、選書推薦等應用的理想資料基礎。</a:t>
            </a:r>
          </a:p>
        </p:txBody>
      </p:sp>
      <p:sp>
        <p:nvSpPr>
          <p:cNvPr id="19" name="Shape 17"/>
          <p:cNvSpPr/>
          <p:nvPr/>
        </p:nvSpPr>
        <p:spPr>
          <a:xfrm>
            <a:off x="355600" y="4508500"/>
            <a:ext cx="8458200" cy="381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55600" y="45085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Microsoft JhengHei" pitchFamily="34" charset="-122"/>
                <a:cs typeface="Calibri" pitchFamily="34" charset="-120"/>
              </a:rPr>
              <a:t>實測證明：華藝資料能為 AI 應用帶來獨特價值，這是資料加值服務的起點</a:t>
            </a:r>
            <a:endParaRPr 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FDB5D6-0B95-2843-A03D-2D2D017CFA2C}"/>
              </a:ext>
            </a:extLst>
          </p:cNvPr>
          <p:cNvSpPr/>
          <p:nvPr/>
        </p:nvSpPr>
        <p:spPr>
          <a:xfrm>
            <a:off x="0" y="1003300"/>
            <a:ext cx="9144000" cy="381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618548-5526-2B44-8E87-DF12424C7050}"/>
              </a:ext>
            </a:extLst>
          </p:cNvPr>
          <p:cNvSpPr/>
          <p:nvPr/>
        </p:nvSpPr>
        <p:spPr>
          <a:xfrm>
            <a:off x="355600" y="1460500"/>
            <a:ext cx="2717800" cy="63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EE942E-10B6-2A48-BCE4-C4626E76AD1D}"/>
              </a:ext>
            </a:extLst>
          </p:cNvPr>
          <p:cNvSpPr/>
          <p:nvPr/>
        </p:nvSpPr>
        <p:spPr>
          <a:xfrm>
            <a:off x="3225800" y="1460500"/>
            <a:ext cx="2717800" cy="63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6C9E79-5559-4D4E-9CCC-CF0759467910}"/>
              </a:ext>
            </a:extLst>
          </p:cNvPr>
          <p:cNvSpPr/>
          <p:nvPr/>
        </p:nvSpPr>
        <p:spPr>
          <a:xfrm>
            <a:off x="6096000" y="1460500"/>
            <a:ext cx="2717800" cy="63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" name="Text 0"/>
          <p:cNvSpPr/>
          <p:nvPr/>
        </p:nvSpPr>
        <p:spPr>
          <a:xfrm>
            <a:off x="546100" y="127000"/>
            <a:ext cx="805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華藝資料的加值潛力</a:t>
            </a:r>
          </a:p>
        </p:txBody>
      </p:sp>
      <p:sp>
        <p:nvSpPr>
          <p:cNvPr id="3" name="Text 1"/>
          <p:cNvSpPr/>
          <p:nvPr/>
        </p:nvSpPr>
        <p:spPr>
          <a:xfrm>
            <a:off x="546100" y="660400"/>
            <a:ext cx="80518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sz="1400" dirty="0">
                <a:solidFill>
                  <a:srgbClr val="22D3EE"/>
                </a:solidFill>
                <a:latin typeface="Calibri" pitchFamily="34" charset="0"/>
                <a:ea typeface="Microsoft JhengHei" pitchFamily="34" charset="-122"/>
              </a:rPr>
              <a:t>從實測結果看資料加值服務的可行性</a:t>
            </a:r>
          </a:p>
        </p:txBody>
      </p:sp>
    </p:spTree>
    <p:extLst>
      <p:ext uri="{BB962C8B-B14F-4D97-AF65-F5344CB8AC3E}">
        <p14:creationId xmlns:p14="http://schemas.microsoft.com/office/powerpoint/2010/main" val="1268266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0033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" name="AccentLine"/>
          <p:cNvSpPr/>
          <p:nvPr/>
        </p:nvSpPr>
        <p:spPr>
          <a:xfrm>
            <a:off x="0" y="1003300"/>
            <a:ext cx="9144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46100" y="152400"/>
            <a:ext cx="8051800" cy="736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zh-TW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</a:rPr>
              <a:t>導入效益分析</a:t>
            </a:r>
          </a:p>
        </p:txBody>
      </p:sp>
      <p:sp>
        <p:nvSpPr>
          <p:cNvPr id="10" name="C1Bg"/>
          <p:cNvSpPr/>
          <p:nvPr/>
        </p:nvSpPr>
        <p:spPr>
          <a:xfrm>
            <a:off x="304800" y="1219200"/>
            <a:ext cx="2768600" cy="368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1" name="C1Bar"/>
          <p:cNvSpPr/>
          <p:nvPr/>
        </p:nvSpPr>
        <p:spPr>
          <a:xfrm>
            <a:off x="304800" y="1219200"/>
            <a:ext cx="2768600" cy="635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2" name="C1LAc"/>
          <p:cNvSpPr/>
          <p:nvPr/>
        </p:nvSpPr>
        <p:spPr>
          <a:xfrm>
            <a:off x="304800" y="1473200"/>
            <a:ext cx="63500" cy="31750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3" name="C1Tx"/>
          <p:cNvSpPr/>
          <p:nvPr/>
        </p:nvSpPr>
        <p:spPr>
          <a:xfrm>
            <a:off x="457200" y="2006600"/>
            <a:ext cx="2463800" cy="281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200"/>
              </a:spcAft>
              <a:buNone/>
            </a:pPr>
            <a:r>
              <a:rPr lang="zh-TW" sz="2000" b="1" dirty="0">
                <a:solidFill>
                  <a:srgbClr val="1A3A5C"/>
                </a:solidFill>
                <a:latin typeface="Calibri"/>
                <a:ea typeface="Microsoft JhengHei"/>
              </a:rPr>
              <a:t>差異化競爭力</a:t>
            </a:r>
          </a:p>
          <a:p>
            <a:pPr algn="ctr">
              <a:spcAft>
                <a:spcPts val="400"/>
              </a:spcAft>
              <a:buNone/>
            </a:pPr>
            <a:r>
              <a:rPr lang="zh-TW" sz="1600" dirty="0">
                <a:solidFill>
                  <a:srgbClr val="0891B2"/>
                </a:solidFill>
                <a:latin typeface="Calibri"/>
                <a:ea typeface="Microsoft JhengHei"/>
              </a:rPr>
              <a:t>藍海市場</a:t>
            </a:r>
          </a:p>
          <a:p>
            <a:pPr algn="ctr">
              <a:lnSpc>
                <a:spcPts val="2200"/>
              </a:lnSpc>
              <a:buNone/>
            </a:pPr>
            <a:r>
              <a:rPr lang="zh-TW" sz="1600" dirty="0">
                <a:solidFill>
                  <a:srgbClr val="475569"/>
                </a:solidFill>
                <a:latin typeface="Calibri"/>
                <a:ea typeface="Microsoft JhengHei"/>
              </a:rPr>
              <a:t>無直接競品，全球唯一
HASS 研究構想系統</a:t>
            </a:r>
          </a:p>
        </p:txBody>
      </p:sp>
      <p:sp>
        <p:nvSpPr>
          <p:cNvPr id="20" name="C2Bg"/>
          <p:cNvSpPr/>
          <p:nvPr/>
        </p:nvSpPr>
        <p:spPr>
          <a:xfrm>
            <a:off x="3187700" y="1219200"/>
            <a:ext cx="2768600" cy="368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21" name="C2Bar"/>
          <p:cNvSpPr/>
          <p:nvPr/>
        </p:nvSpPr>
        <p:spPr>
          <a:xfrm>
            <a:off x="3187700" y="1219200"/>
            <a:ext cx="2768600" cy="6350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22" name="C2LAc"/>
          <p:cNvSpPr/>
          <p:nvPr/>
        </p:nvSpPr>
        <p:spPr>
          <a:xfrm>
            <a:off x="3187700" y="1473200"/>
            <a:ext cx="63500" cy="317500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23" name="C2Tx"/>
          <p:cNvSpPr/>
          <p:nvPr/>
        </p:nvSpPr>
        <p:spPr>
          <a:xfrm>
            <a:off x="3340100" y="2286000"/>
            <a:ext cx="2463800" cy="25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200"/>
              </a:spcAft>
              <a:buNone/>
            </a:pPr>
            <a:r>
              <a:rPr lang="zh-TW" sz="2000" b="1" dirty="0">
                <a:solidFill>
                  <a:srgbClr val="1A3A5C"/>
                </a:solidFill>
                <a:latin typeface="Calibri"/>
                <a:ea typeface="Microsoft JhengHei"/>
              </a:rPr>
              <a:t>提升資料庫使用率</a:t>
            </a:r>
          </a:p>
          <a:p>
            <a:pPr algn="ctr">
              <a:spcAft>
                <a:spcPts val="400"/>
              </a:spcAft>
              <a:buNone/>
            </a:pPr>
            <a:r>
              <a:rPr lang="zh-TW" sz="1600" dirty="0">
                <a:solidFill>
                  <a:srgbClr val="0891B2"/>
                </a:solidFill>
                <a:latin typeface="Calibri"/>
                <a:ea typeface="Microsoft JhengHei"/>
              </a:rPr>
              <a:t>帶動檢索量</a:t>
            </a:r>
          </a:p>
          <a:p>
            <a:pPr algn="ctr">
              <a:lnSpc>
                <a:spcPts val="2200"/>
              </a:lnSpc>
              <a:buNone/>
            </a:pPr>
            <a:r>
              <a:rPr lang="zh-TW" sz="1600" dirty="0">
                <a:solidFill>
                  <a:srgbClr val="475569"/>
                </a:solidFill>
                <a:latin typeface="Calibri"/>
                <a:ea typeface="Microsoft JhengHei"/>
              </a:rPr>
              <a:t>每次構想 = 數十次文獻檢索
帶動 AL 資料庫使用量</a:t>
            </a:r>
          </a:p>
        </p:txBody>
      </p:sp>
      <p:sp>
        <p:nvSpPr>
          <p:cNvPr id="30" name="C3Bg"/>
          <p:cNvSpPr/>
          <p:nvPr/>
        </p:nvSpPr>
        <p:spPr>
          <a:xfrm>
            <a:off x="6070600" y="1219200"/>
            <a:ext cx="2768600" cy="368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1" name="C3Bar"/>
          <p:cNvSpPr/>
          <p:nvPr/>
        </p:nvSpPr>
        <p:spPr>
          <a:xfrm>
            <a:off x="6070600" y="1219200"/>
            <a:ext cx="2768600" cy="63500"/>
          </a:xfrm>
          <a:prstGeom prst="roundRect">
            <a:avLst>
              <a:gd name="adj" fmla="val 8000"/>
            </a:avLst>
          </a:prstGeom>
          <a:solidFill>
            <a:srgbClr val="164E6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2" name="C3LAc"/>
          <p:cNvSpPr/>
          <p:nvPr/>
        </p:nvSpPr>
        <p:spPr>
          <a:xfrm>
            <a:off x="6070600" y="1473200"/>
            <a:ext cx="63500" cy="3175000"/>
          </a:xfrm>
          <a:prstGeom prst="roundRect">
            <a:avLst>
              <a:gd name="adj" fmla="val 6000"/>
            </a:avLst>
          </a:prstGeom>
          <a:solidFill>
            <a:srgbClr val="164E6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3" name="C3Tx"/>
          <p:cNvSpPr/>
          <p:nvPr/>
        </p:nvSpPr>
        <p:spPr>
          <a:xfrm>
            <a:off x="6223000" y="2006600"/>
            <a:ext cx="2463800" cy="281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200"/>
              </a:spcAft>
              <a:buNone/>
            </a:pPr>
            <a:r>
              <a:rPr lang="zh-TW" sz="2000" b="1" dirty="0">
                <a:solidFill>
                  <a:srgbClr val="1A3A5C"/>
                </a:solidFill>
                <a:latin typeface="Calibri"/>
                <a:ea typeface="Microsoft JhengHei"/>
              </a:rPr>
              <a:t>增值服務</a:t>
            </a:r>
          </a:p>
          <a:p>
            <a:pPr algn="ctr">
              <a:spcAft>
                <a:spcPts val="400"/>
              </a:spcAft>
              <a:buNone/>
            </a:pPr>
            <a:r>
              <a:rPr lang="zh-TW" sz="1600" dirty="0">
                <a:solidFill>
                  <a:srgbClr val="0891B2"/>
                </a:solidFill>
                <a:latin typeface="Calibri"/>
                <a:ea typeface="Microsoft JhengHei"/>
              </a:rPr>
              <a:t>加值功能</a:t>
            </a:r>
          </a:p>
          <a:p>
            <a:pPr algn="ctr">
              <a:lnSpc>
                <a:spcPts val="2200"/>
              </a:lnSpc>
              <a:buNone/>
            </a:pPr>
            <a:r>
              <a:rPr lang="zh-TW" sz="1600" dirty="0">
                <a:solidFill>
                  <a:srgbClr val="475569"/>
                </a:solidFill>
                <a:latin typeface="Calibri"/>
                <a:ea typeface="Microsoft JhengHei"/>
              </a:rPr>
              <a:t>可作為學術產品
進階功能加值服務</a:t>
            </a:r>
          </a:p>
        </p:txBody>
      </p:sp>
      <p:pic>
        <p:nvPicPr>
          <p:cNvPr id="34" name="Graphic 34" descr="差異化競爭力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4300" y="1524000"/>
            <a:ext cx="609600" cy="609600"/>
          </a:xfrm>
          <a:prstGeom prst="rect">
            <a:avLst/>
          </a:prstGeom>
        </p:spPr>
      </p:pic>
      <p:pic>
        <p:nvPicPr>
          <p:cNvPr id="35" name="Graphic 35" descr="資料庫使用率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200" y="1524000"/>
            <a:ext cx="609600" cy="609600"/>
          </a:xfrm>
          <a:prstGeom prst="rect">
            <a:avLst/>
          </a:prstGeom>
        </p:spPr>
      </p:pic>
      <p:pic>
        <p:nvPicPr>
          <p:cNvPr id="36" name="Graphic 36" descr="增值服務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0100" y="1524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202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MyNova 的下一步：市場驗證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11300" y="12344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51130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5600" y="1143000"/>
            <a:ext cx="2717800" cy="3474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8" name="Text 6"/>
          <p:cNvSpPr/>
          <p:nvPr/>
        </p:nvSpPr>
        <p:spPr>
          <a:xfrm>
            <a:off x="518160" y="1645920"/>
            <a:ext cx="236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293B"/>
                </a:solidFill>
                <a:latin typeface="Calibri"/>
                <a:ea typeface="Microsoft JhengHei"/>
              </a:rPr>
              <a:t>技術驗證→市場驗證</a:t>
            </a:r>
            <a:endParaRPr lang="en-US" b="1" dirty="0">
              <a:solidFill>
                <a:srgbClr val="1E293B"/>
              </a:solidFill>
              <a:latin typeface="Calibri"/>
              <a:ea typeface="Microsoft JhengHe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8160" y="2194560"/>
            <a:ext cx="2362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/>
                <a:ea typeface="Microsoft JhengHei"/>
              </a:rPr>
              <a:t>導入更多商業與開源 LLM 比較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/>
                <a:ea typeface="Microsoft JhengHei"/>
              </a:rPr>
              <a:t>探索更適合 HASS 的科學創新理論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dirty="0" err="1">
                <a:solidFill>
                  <a:srgbClr val="1E293B"/>
                </a:solidFill>
                <a:latin typeface="Calibri"/>
                <a:ea typeface="Microsoft JhengHei"/>
              </a:rPr>
              <a:t>整合更多資料庫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8800" y="12344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6880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13100" y="1143000"/>
            <a:ext cx="2717800" cy="3474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75660" y="1645920"/>
            <a:ext cx="236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93B"/>
                </a:solidFill>
                <a:latin typeface="Calibri"/>
                <a:ea typeface="Microsoft JhengHei"/>
              </a:rPr>
              <a:t>更多領域案例驗證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75660" y="2194560"/>
            <a:ext cx="2362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/>
                <a:ea typeface="Microsoft JhengHei"/>
              </a:rPr>
              <a:t>KIT 計畫 20+ 位各領域專家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/>
                <a:ea typeface="Microsoft JhengHei"/>
              </a:rPr>
              <a:t>AI 倫理與治理中心 10+ </a:t>
            </a:r>
            <a:r>
              <a:rPr lang="en-US" dirty="0" err="1">
                <a:solidFill>
                  <a:srgbClr val="1E293B"/>
                </a:solidFill>
                <a:latin typeface="Calibri"/>
                <a:ea typeface="Microsoft JhengHei"/>
              </a:rPr>
              <a:t>位成員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6300" y="123444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22630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70600" y="1143000"/>
            <a:ext cx="2717800" cy="34747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233160" y="1645920"/>
            <a:ext cx="2362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E293B"/>
                </a:solidFill>
                <a:latin typeface="Calibri"/>
                <a:ea typeface="Microsoft JhengHei"/>
              </a:rPr>
              <a:t>易用介面開發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33160" y="2194560"/>
            <a:ext cx="2362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/>
                <a:ea typeface="Microsoft JhengHei"/>
              </a:rPr>
              <a:t>命令列工具 → 網頁介面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/>
                <a:ea typeface="Microsoft JhengHei"/>
              </a:rPr>
              <a:t>方便更多研究者試用與回饋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315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2743200" y="1500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sz="1400" b="1" dirty="0">
                <a:solidFill>
                  <a:srgbClr val="0891B2"/>
                </a:solidFill>
                <a:latin typeface="Calibri"/>
                <a:ea typeface="Microsoft JhengHei"/>
              </a:rPr>
              <a:t>第二部分</a:t>
            </a:r>
          </a:p>
        </p:txBody>
      </p:sp>
      <p:sp>
        <p:nvSpPr>
          <p:cNvPr id="3" name="Line"/>
          <p:cNvSpPr/>
          <p:nvPr/>
        </p:nvSpPr>
        <p:spPr>
          <a:xfrm>
            <a:off x="3657600" y="1900000"/>
            <a:ext cx="1828800" cy="274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/>
          <p:nvPr/>
        </p:nvSpPr>
        <p:spPr>
          <a:xfrm>
            <a:off x="1371600" y="2050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</a:rPr>
              <a:t>AI Agent </a:t>
            </a:r>
            <a:r>
              <a:rPr lang="zh-TW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</a:rPr>
              <a:t>技術落地應用</a:t>
            </a:r>
          </a:p>
        </p:txBody>
      </p:sp>
      <p:sp>
        <p:nvSpPr>
          <p:cNvPr id="5" name="Subtitle"/>
          <p:cNvSpPr/>
          <p:nvPr/>
        </p:nvSpPr>
        <p:spPr>
          <a:xfrm>
            <a:off x="1371600" y="2800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sz="1400" dirty="0">
                <a:solidFill>
                  <a:srgbClr val="CBD5E1"/>
                </a:solidFill>
                <a:latin typeface="Calibri"/>
                <a:ea typeface="Microsoft JhengHei"/>
              </a:rPr>
              <a:t>從 MyNova 合作案建立的技術能力，導入內部應用場景</a:t>
            </a:r>
          </a:p>
        </p:txBody>
      </p:sp>
      <p:pic>
        <p:nvPicPr>
          <p:cNvPr id="6" name="Graphic 6" descr="AI Agent 裝飾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651000"/>
            <a:ext cx="1016000" cy="1016000"/>
          </a:xfrm>
          <a:prstGeom prst="rect">
            <a:avLst/>
          </a:prstGeom>
        </p:spPr>
      </p:pic>
      <p:pic>
        <p:nvPicPr>
          <p:cNvPr id="7" name="Graphic 7" descr="技術落地裝飾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3000" y="1778000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1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第二階段研發重點：AI</a:t>
            </a:r>
            <a:r>
              <a:rPr lang="zh-TW" alt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zh-TW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技術落地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286000" cy="3200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E7490"/>
                </a:solidFill>
                <a:latin typeface="Calibri"/>
                <a:ea typeface="Microsoft JhengHei"/>
              </a:rPr>
              <a:t>AI Agent</a:t>
            </a:r>
          </a:p>
          <a:p>
            <a:pPr marL="0" indent="0" algn="ctr">
              <a:buNone/>
            </a:pPr>
            <a:r>
              <a:rPr lang="zh-TW" b="1" dirty="0">
                <a:solidFill>
                  <a:srgbClr val="0E7490"/>
                </a:solidFill>
                <a:latin typeface="Calibri"/>
                <a:ea typeface="Microsoft JhengHei"/>
              </a:rPr>
              <a:t>開發能力</a:t>
            </a:r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0116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dirty="0">
                <a:solidFill>
                  <a:srgbClr val="334155"/>
                </a:solidFill>
                <a:latin typeface="Calibri"/>
                <a:ea typeface="Microsoft JhengHei"/>
              </a:rPr>
              <a:t>計劃性 RAG 檢索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zh-TW" dirty="0">
                <a:solidFill>
                  <a:srgbClr val="334155"/>
                </a:solidFill>
                <a:latin typeface="Calibri"/>
                <a:ea typeface="Microsoft JhengHei"/>
              </a:rPr>
              <a:t>多階段 Agent 編排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zh-TW" dirty="0">
                <a:solidFill>
                  <a:srgbClr val="334155"/>
                </a:solidFill>
                <a:latin typeface="Calibri"/>
                <a:ea typeface="Microsoft JhengHei"/>
              </a:rPr>
              <a:t>評估與排序引擎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zh-TW" dirty="0">
                <a:solidFill>
                  <a:srgbClr val="334155"/>
                </a:solidFill>
                <a:latin typeface="Calibri"/>
                <a:ea typeface="Microsoft JhengHei"/>
              </a:rPr>
              <a:t>LLM 工程與評估</a:t>
            </a:r>
          </a:p>
        </p:txBody>
      </p:sp>
      <p:sp>
        <p:nvSpPr>
          <p:cNvPr id="8" name="Shape 6"/>
          <p:cNvSpPr/>
          <p:nvPr/>
        </p:nvSpPr>
        <p:spPr>
          <a:xfrm>
            <a:off x="2926080" y="2745486"/>
            <a:ext cx="4572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566160" y="2834640"/>
            <a:ext cx="512064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749040" y="2969623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b="1" dirty="0">
                <a:solidFill>
                  <a:srgbClr val="0E7490"/>
                </a:solidFill>
                <a:latin typeface="Calibri"/>
                <a:ea typeface="Microsoft JhengHei"/>
              </a:rPr>
              <a:t>AI 智能客服</a:t>
            </a:r>
          </a:p>
        </p:txBody>
      </p:sp>
      <p:sp>
        <p:nvSpPr>
          <p:cNvPr id="11" name="Text 9"/>
          <p:cNvSpPr/>
          <p:nvPr/>
        </p:nvSpPr>
        <p:spPr>
          <a:xfrm>
            <a:off x="3749040" y="3347901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dirty="0">
                <a:solidFill>
                  <a:srgbClr val="64748B"/>
                </a:solidFill>
                <a:latin typeface="Calibri"/>
                <a:ea typeface="Microsoft JhengHei"/>
              </a:rPr>
              <a:t>網頁即時客服 + </a:t>
            </a:r>
            <a:r>
              <a:rPr lang="zh-TW" altLang="en-US" dirty="0">
                <a:solidFill>
                  <a:srgbClr val="64748B"/>
                </a:solidFill>
                <a:latin typeface="Calibri"/>
                <a:ea typeface="Microsoft JhengHei"/>
              </a:rPr>
              <a:t>真人</a:t>
            </a:r>
            <a:r>
              <a:rPr lang="zh-TW" dirty="0">
                <a:solidFill>
                  <a:srgbClr val="64748B"/>
                </a:solidFill>
                <a:latin typeface="Calibri"/>
                <a:ea typeface="Microsoft JhengHei"/>
              </a:rPr>
              <a:t>客服輔助</a:t>
            </a:r>
          </a:p>
        </p:txBody>
      </p:sp>
      <p:sp>
        <p:nvSpPr>
          <p:cNvPr id="12" name="Text 10"/>
          <p:cNvSpPr/>
          <p:nvPr/>
        </p:nvSpPr>
        <p:spPr>
          <a:xfrm>
            <a:off x="3749040" y="36804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dirty="0">
                <a:solidFill>
                  <a:srgbClr val="334155"/>
                </a:solidFill>
                <a:latin typeface="Calibri"/>
                <a:ea typeface="Microsoft JhengHei"/>
              </a:rPr>
              <a:t>SOP 解析 + 意圖分流 + 人機協作轉接</a:t>
            </a:r>
          </a:p>
        </p:txBody>
      </p:sp>
      <p:sp>
        <p:nvSpPr>
          <p:cNvPr id="13" name="Text 11"/>
          <p:cNvSpPr/>
          <p:nvPr/>
        </p:nvSpPr>
        <p:spPr>
          <a:xfrm>
            <a:off x="3749040" y="4148002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i="1" dirty="0">
                <a:solidFill>
                  <a:srgbClr val="0891B2"/>
                </a:solidFill>
                <a:latin typeface="Calibri"/>
                <a:ea typeface="Microsoft JhengHei"/>
              </a:rPr>
              <a:t>詳見下頁 →</a:t>
            </a:r>
          </a:p>
        </p:txBody>
      </p:sp>
      <p:sp>
        <p:nvSpPr>
          <p:cNvPr id="14" name="Shape 12"/>
          <p:cNvSpPr/>
          <p:nvPr/>
        </p:nvSpPr>
        <p:spPr>
          <a:xfrm>
            <a:off x="3566160" y="1191006"/>
            <a:ext cx="512064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>
            <a:outerShdw blurRad="50800" dist="1905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749040" y="1314377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b="1" dirty="0">
                <a:solidFill>
                  <a:srgbClr val="0E7490"/>
                </a:solidFill>
                <a:latin typeface="Calibri"/>
                <a:ea typeface="Microsoft JhengHei"/>
              </a:rPr>
              <a:t>AI 智能選書與策展推薦</a:t>
            </a:r>
          </a:p>
        </p:txBody>
      </p:sp>
      <p:sp>
        <p:nvSpPr>
          <p:cNvPr id="16" name="Text 14"/>
          <p:cNvSpPr/>
          <p:nvPr/>
        </p:nvSpPr>
        <p:spPr>
          <a:xfrm>
            <a:off x="3749040" y="169060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dirty="0">
                <a:solidFill>
                  <a:srgbClr val="64748B"/>
                </a:solidFill>
                <a:latin typeface="Calibri"/>
                <a:ea typeface="Microsoft JhengHei"/>
              </a:rPr>
              <a:t>業務部、行銷部、圖服部</a:t>
            </a:r>
          </a:p>
        </p:txBody>
      </p:sp>
      <p:sp>
        <p:nvSpPr>
          <p:cNvPr id="17" name="Text 15"/>
          <p:cNvSpPr/>
          <p:nvPr/>
        </p:nvSpPr>
        <p:spPr>
          <a:xfrm>
            <a:off x="3749040" y="198094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dirty="0">
                <a:solidFill>
                  <a:srgbClr val="334155"/>
                </a:solidFill>
                <a:latin typeface="Calibri"/>
                <a:ea typeface="Microsoft JhengHei"/>
              </a:rPr>
              <a:t>機構分析 + 智能檢索 + 書單生成 + 策展推薦</a:t>
            </a:r>
          </a:p>
        </p:txBody>
      </p:sp>
      <p:sp>
        <p:nvSpPr>
          <p:cNvPr id="18" name="Text 16"/>
          <p:cNvSpPr/>
          <p:nvPr/>
        </p:nvSpPr>
        <p:spPr>
          <a:xfrm>
            <a:off x="3749040" y="2507161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i="1" dirty="0">
                <a:solidFill>
                  <a:srgbClr val="0891B2"/>
                </a:solidFill>
                <a:latin typeface="Calibri"/>
                <a:ea typeface="Microsoft JhengHei"/>
              </a:rPr>
              <a:t>詳見下頁 →</a:t>
            </a:r>
          </a:p>
        </p:txBody>
      </p:sp>
      <p:sp>
        <p:nvSpPr>
          <p:cNvPr id="19" name="Text 17"/>
          <p:cNvSpPr/>
          <p:nvPr/>
        </p:nvSpPr>
        <p:spPr>
          <a:xfrm>
            <a:off x="3749040" y="2196846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891B2"/>
                </a:solidFill>
                <a:latin typeface="Calibri"/>
                <a:ea typeface="Microsoft JhengHei"/>
              </a:rPr>
              <a:t>以下分別說明兩個內部應用的模組架構與開發規劃</a:t>
            </a:r>
            <a:endParaRPr lang="en-US" sz="1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D403609-E291-B843-8D81-543E1A7DFC7A}"/>
              </a:ext>
            </a:extLst>
          </p:cNvPr>
          <p:cNvSpPr/>
          <p:nvPr/>
        </p:nvSpPr>
        <p:spPr>
          <a:xfrm>
            <a:off x="3568700" y="2839720"/>
            <a:ext cx="5118100" cy="63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ED9F17-9EC6-BC44-9D40-E10D5FCF6694}"/>
              </a:ext>
            </a:extLst>
          </p:cNvPr>
          <p:cNvSpPr/>
          <p:nvPr/>
        </p:nvSpPr>
        <p:spPr>
          <a:xfrm>
            <a:off x="3568700" y="1193546"/>
            <a:ext cx="5118100" cy="63500"/>
          </a:xfrm>
          <a:prstGeom prst="rect">
            <a:avLst/>
          </a:prstGeom>
          <a:solidFill>
            <a:srgbClr val="0E749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9416184-0512-374F-9F29-011CF2915BAF}"/>
              </a:ext>
            </a:extLst>
          </p:cNvPr>
          <p:cNvSpPr/>
          <p:nvPr/>
        </p:nvSpPr>
        <p:spPr>
          <a:xfrm>
            <a:off x="457200" y="1193800"/>
            <a:ext cx="2286000" cy="63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396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0033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1" name="AccentLine"/>
          <p:cNvSpPr/>
          <p:nvPr/>
        </p:nvSpPr>
        <p:spPr>
          <a:xfrm>
            <a:off x="0" y="1003300"/>
            <a:ext cx="9144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2" name="Title"/>
          <p:cNvSpPr/>
          <p:nvPr/>
        </p:nvSpPr>
        <p:spPr>
          <a:xfrm>
            <a:off x="546100" y="152400"/>
            <a:ext cx="80518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/>
                <a:ea typeface="Arial Black"/>
              </a:rPr>
              <a:t>AI </a:t>
            </a:r>
            <a:r>
              <a:rPr lang="zh-TW" sz="2200" b="1" dirty="0">
                <a:solidFill>
                  <a:srgbClr val="FFFFFF"/>
                </a:solidFill>
                <a:latin typeface="Arial Black"/>
                <a:ea typeface="Arial Black"/>
              </a:rPr>
              <a:t>選書推薦</a:t>
            </a:r>
          </a:p>
        </p:txBody>
      </p:sp>
      <p:sp>
        <p:nvSpPr>
          <p:cNvPr id="103" name="Subtitle"/>
          <p:cNvSpPr/>
          <p:nvPr/>
        </p:nvSpPr>
        <p:spPr>
          <a:xfrm>
            <a:off x="546100" y="660400"/>
            <a:ext cx="80518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zh-TW" sz="1400" dirty="0">
                <a:solidFill>
                  <a:srgbClr val="22D3EE"/>
                </a:solidFill>
                <a:latin typeface="Calibri"/>
                <a:ea typeface="Microsoft JhengHei"/>
              </a:rPr>
              <a:t>模組架構與開發計畫</a:t>
            </a:r>
          </a:p>
        </p:txBody>
      </p:sp>
      <p:sp>
        <p:nvSpPr>
          <p:cNvPr id="104" name="Sec1"/>
          <p:cNvSpPr/>
          <p:nvPr/>
        </p:nvSpPr>
        <p:spPr>
          <a:xfrm>
            <a:off x="457200" y="1117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zh-TW" sz="1400" b="1" dirty="0">
                <a:solidFill>
                  <a:srgbClr val="0E7490"/>
                </a:solidFill>
                <a:latin typeface="Calibri"/>
                <a:ea typeface="Microsoft JhengHei"/>
              </a:rPr>
              <a:t>模組架構</a:t>
            </a:r>
          </a:p>
        </p:txBody>
      </p:sp>
      <p:sp>
        <p:nvSpPr>
          <p:cNvPr id="110" name="S1Bg"/>
          <p:cNvSpPr/>
          <p:nvPr/>
        </p:nvSpPr>
        <p:spPr>
          <a:xfrm>
            <a:off x="355600" y="1397000"/>
            <a:ext cx="1587500" cy="1143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1" name="S1Bar"/>
          <p:cNvSpPr/>
          <p:nvPr/>
        </p:nvSpPr>
        <p:spPr>
          <a:xfrm>
            <a:off x="355600" y="1397000"/>
            <a:ext cx="1587500" cy="5080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2" name="S1Tx"/>
          <p:cNvSpPr/>
          <p:nvPr/>
        </p:nvSpPr>
        <p:spPr>
          <a:xfrm>
            <a:off x="355600" y="1447800"/>
            <a:ext cx="15875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輸入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機構特性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採購記錄</a:t>
            </a:r>
          </a:p>
        </p:txBody>
      </p:sp>
      <p:sp>
        <p:nvSpPr>
          <p:cNvPr id="190" name="Arr1"/>
          <p:cNvSpPr/>
          <p:nvPr/>
        </p:nvSpPr>
        <p:spPr>
          <a:xfrm>
            <a:off x="1955800" y="1892300"/>
            <a:ext cx="101600" cy="1524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3" name="S2Bg"/>
          <p:cNvSpPr/>
          <p:nvPr/>
        </p:nvSpPr>
        <p:spPr>
          <a:xfrm>
            <a:off x="2070100" y="1397000"/>
            <a:ext cx="1587500" cy="1143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4" name="S2Bar"/>
          <p:cNvSpPr/>
          <p:nvPr/>
        </p:nvSpPr>
        <p:spPr>
          <a:xfrm>
            <a:off x="2070100" y="1397000"/>
            <a:ext cx="1587500" cy="5080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5" name="S2Tx"/>
          <p:cNvSpPr/>
          <p:nvPr/>
        </p:nvSpPr>
        <p:spPr>
          <a:xfrm>
            <a:off x="2070100" y="1447800"/>
            <a:ext cx="15875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分析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Planned RAG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學科匹配</a:t>
            </a:r>
          </a:p>
        </p:txBody>
      </p:sp>
      <p:sp>
        <p:nvSpPr>
          <p:cNvPr id="191" name="Arr2"/>
          <p:cNvSpPr/>
          <p:nvPr/>
        </p:nvSpPr>
        <p:spPr>
          <a:xfrm>
            <a:off x="3670300" y="1892300"/>
            <a:ext cx="101600" cy="1524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6" name="S3Bg"/>
          <p:cNvSpPr/>
          <p:nvPr/>
        </p:nvSpPr>
        <p:spPr>
          <a:xfrm>
            <a:off x="3784600" y="1397000"/>
            <a:ext cx="1587500" cy="1143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7" name="S3Bar"/>
          <p:cNvSpPr/>
          <p:nvPr/>
        </p:nvSpPr>
        <p:spPr>
          <a:xfrm>
            <a:off x="3784600" y="1397000"/>
            <a:ext cx="1587500" cy="5080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8" name="S3Tx"/>
          <p:cNvSpPr/>
          <p:nvPr/>
        </p:nvSpPr>
        <p:spPr>
          <a:xfrm>
            <a:off x="3784600" y="1447800"/>
            <a:ext cx="15875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推薦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書單生成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推薦理由</a:t>
            </a:r>
          </a:p>
        </p:txBody>
      </p:sp>
      <p:sp>
        <p:nvSpPr>
          <p:cNvPr id="192" name="Arr3"/>
          <p:cNvSpPr/>
          <p:nvPr/>
        </p:nvSpPr>
        <p:spPr>
          <a:xfrm>
            <a:off x="5384800" y="1892300"/>
            <a:ext cx="101600" cy="1524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9" name="S4Bg"/>
          <p:cNvSpPr/>
          <p:nvPr/>
        </p:nvSpPr>
        <p:spPr>
          <a:xfrm>
            <a:off x="5499100" y="1397000"/>
            <a:ext cx="1587500" cy="1143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" name="S4Bar"/>
          <p:cNvSpPr/>
          <p:nvPr/>
        </p:nvSpPr>
        <p:spPr>
          <a:xfrm>
            <a:off x="5499100" y="1397000"/>
            <a:ext cx="1587500" cy="5080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1" name="S4Tx"/>
          <p:cNvSpPr/>
          <p:nvPr/>
        </p:nvSpPr>
        <p:spPr>
          <a:xfrm>
            <a:off x="5499100" y="1447800"/>
            <a:ext cx="15875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後處理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館藏去重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授權核對</a:t>
            </a:r>
          </a:p>
        </p:txBody>
      </p:sp>
      <p:sp>
        <p:nvSpPr>
          <p:cNvPr id="193" name="Arr4"/>
          <p:cNvSpPr/>
          <p:nvPr/>
        </p:nvSpPr>
        <p:spPr>
          <a:xfrm>
            <a:off x="7099300" y="1892300"/>
            <a:ext cx="101600" cy="1524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2" name="S5Bg"/>
          <p:cNvSpPr/>
          <p:nvPr/>
        </p:nvSpPr>
        <p:spPr>
          <a:xfrm>
            <a:off x="7213600" y="1397000"/>
            <a:ext cx="1587500" cy="1143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3" name="S5Bar"/>
          <p:cNvSpPr/>
          <p:nvPr/>
        </p:nvSpPr>
        <p:spPr>
          <a:xfrm>
            <a:off x="7213600" y="1397000"/>
            <a:ext cx="1587500" cy="5080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4" name="S5Tx"/>
          <p:cNvSpPr/>
          <p:nvPr/>
        </p:nvSpPr>
        <p:spPr>
          <a:xfrm>
            <a:off x="7213600" y="1447800"/>
            <a:ext cx="15875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輸出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單館/聯盟</a:t>
            </a:r>
          </a:p>
          <a:p>
            <a:pPr algn="ctr">
              <a:spcBef>
                <a:spcPts val="50"/>
              </a:spcBef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推薦書單</a:t>
            </a:r>
          </a:p>
        </p:txBody>
      </p:sp>
      <p:sp>
        <p:nvSpPr>
          <p:cNvPr id="200" name="Sec2"/>
          <p:cNvSpPr/>
          <p:nvPr/>
        </p:nvSpPr>
        <p:spPr>
          <a:xfrm>
            <a:off x="469900" y="2918069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zh-TW" sz="1400" b="1" dirty="0">
                <a:solidFill>
                  <a:srgbClr val="0E7490"/>
                </a:solidFill>
                <a:latin typeface="Calibri"/>
                <a:ea typeface="Microsoft JhengHei"/>
              </a:rPr>
              <a:t>開發階段</a:t>
            </a:r>
          </a:p>
        </p:txBody>
      </p:sp>
      <p:sp>
        <p:nvSpPr>
          <p:cNvPr id="210" name="P1Bg"/>
          <p:cNvSpPr/>
          <p:nvPr/>
        </p:nvSpPr>
        <p:spPr>
          <a:xfrm>
            <a:off x="368300" y="3121269"/>
            <a:ext cx="2743200" cy="965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1" name="P1Ac"/>
          <p:cNvSpPr/>
          <p:nvPr/>
        </p:nvSpPr>
        <p:spPr>
          <a:xfrm>
            <a:off x="368300" y="3222869"/>
            <a:ext cx="50800" cy="7620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2" name="P1Tx"/>
          <p:cNvSpPr/>
          <p:nvPr/>
        </p:nvSpPr>
        <p:spPr>
          <a:xfrm>
            <a:off x="520700" y="3121269"/>
            <a:ext cx="2540000" cy="965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0891B2"/>
                </a:solidFill>
                <a:latin typeface="Calibri"/>
                <a:ea typeface="Microsoft JhengHei"/>
              </a:rPr>
              <a:t>Phase 1</a:t>
            </a:r>
          </a:p>
          <a:p>
            <a:pPr algn="l">
              <a:spcBef>
                <a:spcPts val="50"/>
              </a:spcBef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資料整備</a:t>
            </a:r>
          </a:p>
          <a:p>
            <a:pPr algn="l"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採購記錄+書單+採購結果</a:t>
            </a:r>
          </a:p>
        </p:txBody>
      </p:sp>
      <p:sp>
        <p:nvSpPr>
          <p:cNvPr id="213" name="P2Bg"/>
          <p:cNvSpPr/>
          <p:nvPr/>
        </p:nvSpPr>
        <p:spPr>
          <a:xfrm>
            <a:off x="3238500" y="3121269"/>
            <a:ext cx="2743200" cy="965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4" name="P2Ac"/>
          <p:cNvSpPr/>
          <p:nvPr/>
        </p:nvSpPr>
        <p:spPr>
          <a:xfrm>
            <a:off x="3238500" y="3222869"/>
            <a:ext cx="50800" cy="76200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5" name="P2Tx"/>
          <p:cNvSpPr/>
          <p:nvPr/>
        </p:nvSpPr>
        <p:spPr>
          <a:xfrm>
            <a:off x="3390900" y="3121269"/>
            <a:ext cx="2540000" cy="965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0E7490"/>
                </a:solidFill>
                <a:latin typeface="Calibri"/>
                <a:ea typeface="Microsoft JhengHei"/>
              </a:rPr>
              <a:t>Phase 2</a:t>
            </a:r>
          </a:p>
          <a:p>
            <a:pPr algn="l">
              <a:spcBef>
                <a:spcPts val="50"/>
              </a:spcBef>
              <a:spcAft>
                <a:spcPts val="100"/>
              </a:spcAft>
              <a:buNone/>
            </a:pPr>
            <a:r>
              <a:rPr lang="zh-TW" altLang="en-US" sz="1600" b="1" dirty="0">
                <a:solidFill>
                  <a:srgbClr val="1A3A5C"/>
                </a:solidFill>
                <a:latin typeface="Calibri"/>
                <a:ea typeface="Microsoft JhengHei"/>
              </a:rPr>
              <a:t>開發及</a:t>
            </a: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內部試用</a:t>
            </a:r>
          </a:p>
          <a:p>
            <a:pPr algn="l"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業務、行銷部門試用回饋</a:t>
            </a:r>
          </a:p>
        </p:txBody>
      </p:sp>
      <p:sp>
        <p:nvSpPr>
          <p:cNvPr id="216" name="P3Bg"/>
          <p:cNvSpPr/>
          <p:nvPr/>
        </p:nvSpPr>
        <p:spPr>
          <a:xfrm>
            <a:off x="6108700" y="3121269"/>
            <a:ext cx="2743200" cy="965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7" name="P3Ac"/>
          <p:cNvSpPr/>
          <p:nvPr/>
        </p:nvSpPr>
        <p:spPr>
          <a:xfrm>
            <a:off x="6108700" y="3222869"/>
            <a:ext cx="50800" cy="762000"/>
          </a:xfrm>
          <a:prstGeom prst="roundRect">
            <a:avLst>
              <a:gd name="adj" fmla="val 6000"/>
            </a:avLst>
          </a:prstGeom>
          <a:solidFill>
            <a:srgbClr val="164E6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218" name="P3Tx"/>
          <p:cNvSpPr/>
          <p:nvPr/>
        </p:nvSpPr>
        <p:spPr>
          <a:xfrm>
            <a:off x="6261100" y="3121269"/>
            <a:ext cx="2540000" cy="965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164E63"/>
                </a:solidFill>
                <a:latin typeface="Calibri"/>
                <a:ea typeface="Microsoft JhengHei"/>
              </a:rPr>
              <a:t>Phase 3</a:t>
            </a:r>
          </a:p>
          <a:p>
            <a:pPr algn="l">
              <a:spcBef>
                <a:spcPts val="50"/>
              </a:spcBef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功能擴展</a:t>
            </a:r>
          </a:p>
          <a:p>
            <a:pPr algn="l"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主題書展、季節趨勢分析</a:t>
            </a:r>
          </a:p>
        </p:txBody>
      </p:sp>
      <p:sp>
        <p:nvSpPr>
          <p:cNvPr id="230" name="ExtBar"/>
          <p:cNvSpPr/>
          <p:nvPr/>
        </p:nvSpPr>
        <p:spPr>
          <a:xfrm>
            <a:off x="368300" y="4213469"/>
            <a:ext cx="8483600" cy="3302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9525">
            <a:solidFill>
              <a:srgbClr val="CCFBF1"/>
            </a:solidFill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zh-TW" sz="1400" b="1" dirty="0">
                <a:solidFill>
                  <a:srgbClr val="0E7490"/>
                </a:solidFill>
                <a:latin typeface="Calibri"/>
                <a:ea typeface="Microsoft JhengHei"/>
              </a:rPr>
              <a:t>延伸：</a:t>
            </a:r>
            <a:r>
              <a:rPr lang="zh-TW" sz="1400" dirty="0">
                <a:solidFill>
                  <a:srgbClr val="334155"/>
                </a:solidFill>
                <a:latin typeface="Calibri"/>
                <a:ea typeface="Microsoft JhengHei"/>
              </a:rPr>
              <a:t>AI 分析採購紀錄，建議主題書展</a:t>
            </a:r>
          </a:p>
        </p:txBody>
      </p:sp>
      <p:sp>
        <p:nvSpPr>
          <p:cNvPr id="231" name="BotNote"/>
          <p:cNvSpPr/>
          <p:nvPr/>
        </p:nvSpPr>
        <p:spPr>
          <a:xfrm>
            <a:off x="368300" y="4594469"/>
            <a:ext cx="84836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zh-TW" sz="1400" i="1" dirty="0">
                <a:solidFill>
                  <a:srgbClr val="94A3B8"/>
                </a:solidFill>
                <a:latin typeface="Calibri"/>
                <a:ea typeface="Microsoft JhengHei"/>
              </a:rPr>
              <a:t>技術共通：Planned RAG + 多階段 Agent 編排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15D656-564C-1A41-B1D4-DDCB4427662C}"/>
              </a:ext>
            </a:extLst>
          </p:cNvPr>
          <p:cNvSpPr/>
          <p:nvPr/>
        </p:nvSpPr>
        <p:spPr>
          <a:xfrm>
            <a:off x="368300" y="2879969"/>
            <a:ext cx="8432800" cy="1905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19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/>
          <p:nvPr/>
        </p:nvSpPr>
        <p:spPr>
          <a:xfrm>
            <a:off x="0" y="0"/>
            <a:ext cx="9144000" cy="10033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1" name="AccentLine"/>
          <p:cNvSpPr/>
          <p:nvPr/>
        </p:nvSpPr>
        <p:spPr>
          <a:xfrm>
            <a:off x="0" y="1003300"/>
            <a:ext cx="9144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2" name="Title"/>
          <p:cNvSpPr/>
          <p:nvPr/>
        </p:nvSpPr>
        <p:spPr>
          <a:xfrm>
            <a:off x="546100" y="152400"/>
            <a:ext cx="8051800" cy="482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/>
                <a:ea typeface="Arial Black"/>
              </a:rPr>
              <a:t>AI </a:t>
            </a:r>
            <a:r>
              <a:rPr lang="zh-TW" sz="2200" b="1" dirty="0">
                <a:solidFill>
                  <a:srgbClr val="FFFFFF"/>
                </a:solidFill>
                <a:latin typeface="Arial Black"/>
                <a:ea typeface="Arial Black"/>
              </a:rPr>
              <a:t>智能客服</a:t>
            </a:r>
          </a:p>
        </p:txBody>
      </p:sp>
      <p:sp>
        <p:nvSpPr>
          <p:cNvPr id="103" name="Subtitle"/>
          <p:cNvSpPr/>
          <p:nvPr/>
        </p:nvSpPr>
        <p:spPr>
          <a:xfrm>
            <a:off x="546100" y="660400"/>
            <a:ext cx="80518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zh-TW" sz="1400" dirty="0">
                <a:solidFill>
                  <a:srgbClr val="22D3EE"/>
                </a:solidFill>
                <a:latin typeface="Calibri"/>
                <a:ea typeface="Microsoft JhengHei"/>
              </a:rPr>
              <a:t>模組架構與開發計畫</a:t>
            </a:r>
          </a:p>
        </p:txBody>
      </p:sp>
      <p:sp>
        <p:nvSpPr>
          <p:cNvPr id="104" name="Sec1"/>
          <p:cNvSpPr/>
          <p:nvPr/>
        </p:nvSpPr>
        <p:spPr>
          <a:xfrm>
            <a:off x="457200" y="1117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zh-TW" sz="1400" b="1" dirty="0">
                <a:solidFill>
                  <a:srgbClr val="0E7490"/>
                </a:solidFill>
                <a:latin typeface="Calibri"/>
                <a:ea typeface="Microsoft JhengHei"/>
              </a:rPr>
              <a:t>模組架構</a:t>
            </a:r>
          </a:p>
        </p:txBody>
      </p:sp>
      <p:sp>
        <p:nvSpPr>
          <p:cNvPr id="110" name="M1Bg"/>
          <p:cNvSpPr/>
          <p:nvPr/>
        </p:nvSpPr>
        <p:spPr>
          <a:xfrm>
            <a:off x="355600" y="1371600"/>
            <a:ext cx="41910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1" name="M1Bar"/>
          <p:cNvSpPr/>
          <p:nvPr/>
        </p:nvSpPr>
        <p:spPr>
          <a:xfrm>
            <a:off x="355600" y="13716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2" name="M1Tx"/>
          <p:cNvSpPr/>
          <p:nvPr/>
        </p:nvSpPr>
        <p:spPr>
          <a:xfrm>
            <a:off x="508000" y="1371600"/>
            <a:ext cx="3987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智能檢索與主動引導</a:t>
            </a:r>
          </a:p>
          <a:p>
            <a:pPr algn="l"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精準解析 SOP，主動引導用戶提供資訊</a:t>
            </a:r>
          </a:p>
        </p:txBody>
      </p:sp>
      <p:sp>
        <p:nvSpPr>
          <p:cNvPr id="113" name="M2Bg"/>
          <p:cNvSpPr/>
          <p:nvPr/>
        </p:nvSpPr>
        <p:spPr>
          <a:xfrm>
            <a:off x="4699000" y="1371600"/>
            <a:ext cx="41910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4" name="M2Bar"/>
          <p:cNvSpPr/>
          <p:nvPr/>
        </p:nvSpPr>
        <p:spPr>
          <a:xfrm>
            <a:off x="4699000" y="13716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5" name="M2Tx"/>
          <p:cNvSpPr/>
          <p:nvPr/>
        </p:nvSpPr>
        <p:spPr>
          <a:xfrm>
            <a:off x="4851400" y="1371600"/>
            <a:ext cx="3987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四維意圖分流</a:t>
            </a:r>
          </a:p>
          <a:p>
            <a:pPr algn="l"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諮詢/報修/建議/商務自動標記分流</a:t>
            </a:r>
          </a:p>
        </p:txBody>
      </p:sp>
      <p:sp>
        <p:nvSpPr>
          <p:cNvPr id="116" name="M3Bg"/>
          <p:cNvSpPr/>
          <p:nvPr/>
        </p:nvSpPr>
        <p:spPr>
          <a:xfrm>
            <a:off x="355600" y="2184400"/>
            <a:ext cx="41910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7" name="M3Bar"/>
          <p:cNvSpPr/>
          <p:nvPr/>
        </p:nvSpPr>
        <p:spPr>
          <a:xfrm>
            <a:off x="355600" y="21844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8" name="M3Tx"/>
          <p:cNvSpPr/>
          <p:nvPr/>
        </p:nvSpPr>
        <p:spPr>
          <a:xfrm>
            <a:off x="508000" y="2184400"/>
            <a:ext cx="3987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人機協作轉接</a:t>
            </a:r>
          </a:p>
          <a:p>
            <a:pPr algn="l"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情緒偵測+失敗偵測，摘要轉接人工</a:t>
            </a:r>
          </a:p>
        </p:txBody>
      </p:sp>
      <p:sp>
        <p:nvSpPr>
          <p:cNvPr id="119" name="M4Bg"/>
          <p:cNvSpPr/>
          <p:nvPr/>
        </p:nvSpPr>
        <p:spPr>
          <a:xfrm>
            <a:off x="4699000" y="2184400"/>
            <a:ext cx="4191000" cy="711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0" name="M4Bar"/>
          <p:cNvSpPr/>
          <p:nvPr/>
        </p:nvSpPr>
        <p:spPr>
          <a:xfrm>
            <a:off x="4699000" y="2184400"/>
            <a:ext cx="50800" cy="7112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1" name="M4Tx"/>
          <p:cNvSpPr/>
          <p:nvPr/>
        </p:nvSpPr>
        <p:spPr>
          <a:xfrm>
            <a:off x="4851400" y="2184400"/>
            <a:ext cx="3987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非標案例標準化</a:t>
            </a:r>
          </a:p>
          <a:p>
            <a:pPr algn="l">
              <a:buNone/>
            </a:pPr>
            <a:r>
              <a:rPr lang="zh-TW" sz="1400" dirty="0">
                <a:solidFill>
                  <a:srgbClr val="64748B"/>
                </a:solidFill>
                <a:latin typeface="Calibri"/>
                <a:ea typeface="Microsoft JhengHei"/>
              </a:rPr>
              <a:t>彙整 AI 無法處理案例，優化知識庫</a:t>
            </a:r>
          </a:p>
        </p:txBody>
      </p:sp>
      <p:sp>
        <p:nvSpPr>
          <p:cNvPr id="130" name="Sec2"/>
          <p:cNvSpPr/>
          <p:nvPr/>
        </p:nvSpPr>
        <p:spPr>
          <a:xfrm>
            <a:off x="457200" y="300355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zh-TW" sz="1400" b="1" dirty="0">
                <a:solidFill>
                  <a:srgbClr val="0E7490"/>
                </a:solidFill>
                <a:latin typeface="Calibri"/>
                <a:ea typeface="Microsoft JhengHei"/>
              </a:rPr>
              <a:t>開發階段</a:t>
            </a:r>
          </a:p>
        </p:txBody>
      </p:sp>
      <p:sp>
        <p:nvSpPr>
          <p:cNvPr id="140" name="P1Bg"/>
          <p:cNvSpPr/>
          <p:nvPr/>
        </p:nvSpPr>
        <p:spPr>
          <a:xfrm>
            <a:off x="355600" y="3257550"/>
            <a:ext cx="4191000" cy="863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1" name="P1Ac"/>
          <p:cNvSpPr/>
          <p:nvPr/>
        </p:nvSpPr>
        <p:spPr>
          <a:xfrm>
            <a:off x="355600" y="3359150"/>
            <a:ext cx="50800" cy="6604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2" name="P1Tx"/>
          <p:cNvSpPr/>
          <p:nvPr/>
        </p:nvSpPr>
        <p:spPr>
          <a:xfrm>
            <a:off x="508000" y="3257550"/>
            <a:ext cx="3987800" cy="863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0891B2"/>
                </a:solidFill>
                <a:latin typeface="Calibri"/>
                <a:ea typeface="Microsoft JhengHei"/>
              </a:rPr>
              <a:t>Phase 1</a:t>
            </a:r>
          </a:p>
          <a:p>
            <a:pPr algn="l">
              <a:spcBef>
                <a:spcPts val="50"/>
              </a:spcBef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資料收集</a:t>
            </a:r>
          </a:p>
          <a:p>
            <a:pPr algn="l"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FAQ + 客服語音逐字稿 + Jura 工單</a:t>
            </a:r>
          </a:p>
        </p:txBody>
      </p:sp>
      <p:sp>
        <p:nvSpPr>
          <p:cNvPr id="144" name="P2Bg"/>
          <p:cNvSpPr/>
          <p:nvPr/>
        </p:nvSpPr>
        <p:spPr>
          <a:xfrm>
            <a:off x="4699000" y="3257550"/>
            <a:ext cx="4191000" cy="863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5" name="P2Ac"/>
          <p:cNvSpPr/>
          <p:nvPr/>
        </p:nvSpPr>
        <p:spPr>
          <a:xfrm>
            <a:off x="4699000" y="3359150"/>
            <a:ext cx="50800" cy="66040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6" name="P2Tx"/>
          <p:cNvSpPr/>
          <p:nvPr/>
        </p:nvSpPr>
        <p:spPr>
          <a:xfrm>
            <a:off x="4851400" y="3257550"/>
            <a:ext cx="3987800" cy="863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0E7490"/>
                </a:solidFill>
                <a:latin typeface="Calibri"/>
                <a:ea typeface="Microsoft JhengHei"/>
              </a:rPr>
              <a:t>Phase 2</a:t>
            </a:r>
          </a:p>
          <a:p>
            <a:pPr algn="l">
              <a:spcBef>
                <a:spcPts val="50"/>
              </a:spcBef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PoC 驗證</a:t>
            </a:r>
          </a:p>
          <a:p>
            <a:pPr algn="l"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系統架構和 Agent 功能開發</a:t>
            </a:r>
          </a:p>
        </p:txBody>
      </p:sp>
      <p:sp>
        <p:nvSpPr>
          <p:cNvPr id="148" name="P3Bg"/>
          <p:cNvSpPr/>
          <p:nvPr/>
        </p:nvSpPr>
        <p:spPr>
          <a:xfrm>
            <a:off x="355600" y="4222750"/>
            <a:ext cx="4191000" cy="863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49" name="P3Ac"/>
          <p:cNvSpPr/>
          <p:nvPr/>
        </p:nvSpPr>
        <p:spPr>
          <a:xfrm>
            <a:off x="355600" y="4324350"/>
            <a:ext cx="50800" cy="660400"/>
          </a:xfrm>
          <a:prstGeom prst="roundRect">
            <a:avLst>
              <a:gd name="adj" fmla="val 6000"/>
            </a:avLst>
          </a:prstGeom>
          <a:solidFill>
            <a:srgbClr val="155E7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0" name="P3Tx"/>
          <p:cNvSpPr/>
          <p:nvPr/>
        </p:nvSpPr>
        <p:spPr>
          <a:xfrm>
            <a:off x="508000" y="4222750"/>
            <a:ext cx="3987800" cy="863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155E75"/>
                </a:solidFill>
                <a:latin typeface="Calibri"/>
                <a:ea typeface="Microsoft JhengHei"/>
              </a:rPr>
              <a:t>Phase 3</a:t>
            </a:r>
          </a:p>
          <a:p>
            <a:pPr algn="l">
              <a:spcBef>
                <a:spcPts val="50"/>
              </a:spcBef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User 互動功能</a:t>
            </a:r>
          </a:p>
          <a:p>
            <a:pPr algn="l"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平台整合 AI 客服，自動處理常見問題</a:t>
            </a:r>
          </a:p>
        </p:txBody>
      </p:sp>
      <p:sp>
        <p:nvSpPr>
          <p:cNvPr id="152" name="P4Bg"/>
          <p:cNvSpPr/>
          <p:nvPr/>
        </p:nvSpPr>
        <p:spPr>
          <a:xfrm>
            <a:off x="4699000" y="4222750"/>
            <a:ext cx="4191000" cy="863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3" name="P4Ac"/>
          <p:cNvSpPr/>
          <p:nvPr/>
        </p:nvSpPr>
        <p:spPr>
          <a:xfrm>
            <a:off x="4699000" y="4324350"/>
            <a:ext cx="50800" cy="660400"/>
          </a:xfrm>
          <a:prstGeom prst="roundRect">
            <a:avLst>
              <a:gd name="adj" fmla="val 6000"/>
            </a:avLst>
          </a:prstGeom>
          <a:solidFill>
            <a:srgbClr val="164E6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54" name="P4Tx"/>
          <p:cNvSpPr/>
          <p:nvPr/>
        </p:nvSpPr>
        <p:spPr>
          <a:xfrm>
            <a:off x="4851400" y="4222750"/>
            <a:ext cx="3987800" cy="863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0"/>
              </a:spcAft>
              <a:buNone/>
            </a:pPr>
            <a:r>
              <a:rPr lang="en-US" sz="1400" dirty="0">
                <a:solidFill>
                  <a:srgbClr val="164E63"/>
                </a:solidFill>
                <a:latin typeface="Calibri"/>
                <a:ea typeface="Microsoft JhengHei"/>
              </a:rPr>
              <a:t>Phase 4</a:t>
            </a:r>
          </a:p>
          <a:p>
            <a:pPr algn="l">
              <a:spcBef>
                <a:spcPts val="50"/>
              </a:spcBef>
              <a:spcAft>
                <a:spcPts val="100"/>
              </a:spcAft>
              <a:buNone/>
            </a:pPr>
            <a:r>
              <a:rPr lang="zh-TW" sz="1600" b="1" dirty="0">
                <a:solidFill>
                  <a:srgbClr val="1A3A5C"/>
                </a:solidFill>
                <a:latin typeface="Calibri"/>
                <a:ea typeface="Microsoft JhengHei"/>
              </a:rPr>
              <a:t>系統功能擴展</a:t>
            </a:r>
          </a:p>
          <a:p>
            <a:pPr algn="l">
              <a:buNone/>
            </a:pPr>
            <a:r>
              <a:rPr lang="zh-TW" sz="1400" dirty="0">
                <a:solidFill>
                  <a:srgbClr val="475569"/>
                </a:solidFill>
                <a:latin typeface="Calibri"/>
                <a:ea typeface="Microsoft JhengHei"/>
              </a:rPr>
              <a:t>真人客服輔助：合約查詢、書單查詢等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173D9F-F443-194B-8E69-4B34FF0F24A3}"/>
              </a:ext>
            </a:extLst>
          </p:cNvPr>
          <p:cNvSpPr/>
          <p:nvPr/>
        </p:nvSpPr>
        <p:spPr>
          <a:xfrm>
            <a:off x="355600" y="2978150"/>
            <a:ext cx="8432800" cy="1905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071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AccentTop"/>
          <p:cNvSpPr/>
          <p:nvPr/>
        </p:nvSpPr>
        <p:spPr>
          <a:xfrm>
            <a:off x="3302000" y="1270000"/>
            <a:ext cx="2540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" name="QAText"/>
          <p:cNvSpPr/>
          <p:nvPr/>
        </p:nvSpPr>
        <p:spPr>
          <a:xfrm>
            <a:off x="762000" y="14605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/>
                <a:ea typeface="Arial Black"/>
              </a:rPr>
              <a:t>Q </a:t>
            </a:r>
            <a:r>
              <a:rPr lang="en-US" sz="5400" b="1" dirty="0">
                <a:solidFill>
                  <a:srgbClr val="0891B2"/>
                </a:solidFill>
                <a:latin typeface="Arial Black"/>
                <a:ea typeface="Arial Black"/>
              </a:rPr>
              <a:t>&amp;</a:t>
            </a:r>
            <a:r>
              <a:rPr lang="en-US" sz="5400" b="1" dirty="0">
                <a:solidFill>
                  <a:srgbClr val="FFFFFF"/>
                </a:solidFill>
                <a:latin typeface="Arial Black"/>
                <a:ea typeface="Arial Black"/>
              </a:rPr>
              <a:t> A</a:t>
            </a:r>
          </a:p>
        </p:txBody>
      </p:sp>
      <p:sp>
        <p:nvSpPr>
          <p:cNvPr id="5" name="AccentBot"/>
          <p:cNvSpPr/>
          <p:nvPr/>
        </p:nvSpPr>
        <p:spPr>
          <a:xfrm>
            <a:off x="3302000" y="2667000"/>
            <a:ext cx="2540000" cy="381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6" name="SubText"/>
          <p:cNvSpPr/>
          <p:nvPr/>
        </p:nvSpPr>
        <p:spPr>
          <a:xfrm>
            <a:off x="1270000" y="2857500"/>
            <a:ext cx="6604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zh-TW" sz="1600" dirty="0">
                <a:solidFill>
                  <a:srgbClr val="22D3EE"/>
                </a:solidFill>
                <a:latin typeface="Calibri"/>
                <a:ea typeface="Microsoft JhengHei"/>
              </a:rPr>
              <a:t>感謝聆聽，歡迎提問與交流</a:t>
            </a:r>
          </a:p>
        </p:txBody>
      </p:sp>
      <p:sp>
        <p:nvSpPr>
          <p:cNvPr id="7" name="Footer"/>
          <p:cNvSpPr/>
          <p:nvPr/>
        </p:nvSpPr>
        <p:spPr>
          <a:xfrm>
            <a:off x="762000" y="4445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zh-TW" sz="1400" dirty="0">
                <a:solidFill>
                  <a:srgbClr val="CBD5E1"/>
                </a:solidFill>
                <a:latin typeface="Calibri"/>
                <a:ea typeface="Microsoft JhengHei"/>
              </a:rPr>
              <a:t>臺師大 × 華藝數位 產學合作成果報告 | 2026.03.2</a:t>
            </a:r>
            <a:r>
              <a:rPr lang="en-US" altLang="zh-TW" sz="1400" dirty="0">
                <a:solidFill>
                  <a:srgbClr val="CBD5E1"/>
                </a:solidFill>
                <a:latin typeface="Calibri"/>
                <a:ea typeface="Microsoft JhengHei"/>
              </a:rPr>
              <a:t>4</a:t>
            </a:r>
            <a:endParaRPr lang="zh-TW" sz="1400" dirty="0">
              <a:solidFill>
                <a:srgbClr val="CBD5E1"/>
              </a:solidFill>
              <a:latin typeface="Calibri"/>
              <a:ea typeface="Microsoft JhengHei"/>
            </a:endParaRPr>
          </a:p>
        </p:txBody>
      </p:sp>
      <p:sp>
        <p:nvSpPr>
          <p:cNvPr id="10" name="Deco1"/>
          <p:cNvSpPr/>
          <p:nvPr/>
        </p:nvSpPr>
        <p:spPr>
          <a:xfrm>
            <a:off x="1016000" y="3683000"/>
            <a:ext cx="635000" cy="635000"/>
          </a:xfrm>
          <a:prstGeom prst="ellipse">
            <a:avLst/>
          </a:prstGeom>
          <a:noFill/>
          <a:ln w="19050">
            <a:solidFill>
              <a:srgbClr val="0891B2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" name="Deco2"/>
          <p:cNvSpPr/>
          <p:nvPr/>
        </p:nvSpPr>
        <p:spPr>
          <a:xfrm>
            <a:off x="7366000" y="1016000"/>
            <a:ext cx="762000" cy="762000"/>
          </a:xfrm>
          <a:prstGeom prst="ellipse">
            <a:avLst/>
          </a:prstGeom>
          <a:noFill/>
          <a:ln w="19050">
            <a:solidFill>
              <a:srgbClr val="0891B2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2" name="Deco3"/>
          <p:cNvSpPr/>
          <p:nvPr/>
        </p:nvSpPr>
        <p:spPr>
          <a:xfrm>
            <a:off x="7493000" y="3810000"/>
            <a:ext cx="508000" cy="508000"/>
          </a:xfrm>
          <a:prstGeom prst="ellipse">
            <a:avLst/>
          </a:prstGeom>
          <a:noFill/>
          <a:ln w="12700">
            <a:solidFill>
              <a:srgbClr val="0E7490"/>
            </a:solidFill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96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092529-C8DA-784D-AF00-F71F4B4E48F3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6758</TotalTime>
  <Words>1404</Words>
  <Application>Microsoft Macintosh PowerPoint</Application>
  <PresentationFormat>如螢幕大小 (16:9)</PresentationFormat>
  <Paragraphs>316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Andrew Wong</cp:lastModifiedBy>
  <cp:revision>28</cp:revision>
  <dcterms:created xsi:type="dcterms:W3CDTF">2026-03-11T06:12:00Z</dcterms:created>
  <dcterms:modified xsi:type="dcterms:W3CDTF">2026-03-24T03:55:42Z</dcterms:modified>
</cp:coreProperties>
</file>